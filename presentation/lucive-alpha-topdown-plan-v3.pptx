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27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Lucive 알파 검증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2026-04-23 | 검증 포인트, KPI, 오너십, 준비 일정, Go/No-Go 게이트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1600200"/>
          </a:xfrm>
          <a:prstGeom prst="roundRect">
            <a:avLst/>
          </a:prstGeom>
          <a:solidFill>
            <a:srgbClr val="3760B2"/>
          </a:solidFill>
          <a:ln>
            <a:solidFill>
              <a:srgbClr val="376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 err="1">
                <a:solidFill>
                  <a:srgbClr val="FFFFFF"/>
                </a:solidFill>
              </a:rPr>
              <a:t>이번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알파의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목적</a:t>
            </a:r>
            <a:endParaRPr sz="1500" b="1" dirty="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rPr dirty="0"/>
              <a:t>LP</a:t>
            </a:r>
            <a:r>
              <a:rPr lang="en-US" dirty="0"/>
              <a:t> + </a:t>
            </a:r>
            <a:r>
              <a:rPr lang="ko-KR" altLang="en-US" dirty="0"/>
              <a:t>스토리</a:t>
            </a:r>
            <a:r>
              <a:rPr lang="en-US" altLang="ko-KR" dirty="0"/>
              <a:t>(</a:t>
            </a:r>
            <a:r>
              <a:rPr lang="ko-KR" altLang="en-US" dirty="0" err="1"/>
              <a:t>루시브</a:t>
            </a:r>
            <a:r>
              <a:rPr lang="en-US" altLang="ko-KR" dirty="0"/>
              <a:t>)</a:t>
            </a:r>
            <a:r>
              <a:rPr dirty="0"/>
              <a:t>가 </a:t>
            </a:r>
            <a:r>
              <a:rPr dirty="0" err="1"/>
              <a:t>감정적</a:t>
            </a:r>
            <a:r>
              <a:rPr dirty="0"/>
              <a:t> </a:t>
            </a:r>
            <a:r>
              <a:rPr dirty="0" err="1"/>
              <a:t>연결과</a:t>
            </a:r>
            <a:r>
              <a:rPr dirty="0"/>
              <a:t> </a:t>
            </a:r>
            <a:r>
              <a:rPr dirty="0" err="1"/>
              <a:t>자발적</a:t>
            </a:r>
            <a:r>
              <a:rPr dirty="0"/>
              <a:t> </a:t>
            </a:r>
            <a:r>
              <a:rPr dirty="0" err="1"/>
              <a:t>복귀를</a:t>
            </a:r>
            <a:r>
              <a:rPr dirty="0"/>
              <a:t> </a:t>
            </a:r>
            <a:r>
              <a:rPr dirty="0" err="1"/>
              <a:t>만드는지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rPr dirty="0" err="1"/>
              <a:t>모집-선발-온보딩-피드백</a:t>
            </a:r>
            <a:r>
              <a:rPr dirty="0"/>
              <a:t> </a:t>
            </a:r>
            <a:r>
              <a:rPr dirty="0" err="1"/>
              <a:t>루프를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형태로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돌려보기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160020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반드시 측정할 것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D7 / D30 리텐션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같은 LP 재방문율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온보딩 완료율과 세션 길이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 유입 품질과 FGI 증거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25880"/>
            <a:ext cx="3520440" cy="160020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운영 원칙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공식 채널은 유료 캠페인 전에 먼저 연다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5월 1일은 채널 오픈 + 캠페인 시작일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Alpha Test PO가 전체 readiness 게이트 오너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권장 일정은 4/28 퍼널 검증 완료, 5/1 채널/캠페인 오픈, 5/8 또는 5/15 모집 마감 게이트, 5/22 알파 런칭이다.</a:t>
            </a:r>
          </a:p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최소 제품 기준은 LP 3개, 스토리 15개, 세계관/이미지/보이스 최소 세트, 바이럴 자산 3개다.</a:t>
            </a:r>
          </a:p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이번 버전은 무엇을 검증할지, 어떻게 측정할지, 누가 책임질지, 언제까지 준비해야 하는지 중심으로 재구성했다.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이번 알파에서 검증할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각 검증 포인트는 KPI와 오너, 준비 항목으로 연결되어야 한다.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검증 축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가설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성공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오너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자발적 복귀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스토리 기반 LP 경험이 푸쉬 없이도 자발적 복귀를 만든다.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D7 리텐션, D30 리텐션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D7 50% 이상, D30 35% 이상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Alpha Test PO + LUCIVE Product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관계 지속성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유저는 앱 자체가 아니라 같은 LP와의 관계를 이어가기 위해 돌아온다.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같은 LP 재방문율, 같은 LP 재방문 인터뷰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복귀 유저가 같은 LP를 명확히 선호하고 그 이유를 설명할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Alpha Test PO + LUCIVE Product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서사 견인력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3개와 스토리 15개 구조가 1~2일 단위 복귀 이유를 만든다.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유저당 복귀 세션 수, 스토리 소비 깊이, FGI 코멘트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런칭 주간 스토리만으로 최소 1주일 복귀 동기 확보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몰입도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세계관, 이미지, 보이스가 다소 거친 알파 UX를 상쇄할 만큼 몰입을 만든다.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평균 세션 길이, 온보딩 완료율, FGI 인용문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세션 15분 이상, 온보딩 80% 이상, 몰입 관련 긍정 코멘트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 + Alpha Test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커뮤니티 견인력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개발 소식과 커뮤니티 운영이 모집 전환과 기대감을 올린다.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커뮤니티 입장률, 설문 완료율, 커뮤니티 참여자 품질 비교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5월 1일 전 채널 오픈, 모집 전환에 실제 기여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Growth Marketing Team + Alpha Test PO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KPI 측정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Tier 1은 thesis 증명, Tier 2는 해석 보강, Tier 3는 확산 품질 설명에 사용한다.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66160" cy="4480560"/>
          </a:xfrm>
          <a:prstGeom prst="roundRect">
            <a:avLst/>
          </a:prstGeom>
          <a:solidFill>
            <a:srgbClr val="182340"/>
          </a:solidFill>
          <a:ln>
            <a:solidFill>
              <a:srgbClr val="18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Tier 1: 반드시 측정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D30 리텐션 &gt;= 35%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같은 LP 재방문율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DAU / MAU &gt;= 50%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관계 형성의 직접 증거가 되는 지표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325880"/>
            <a:ext cx="3566160" cy="448056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Tier 2: 보조 지표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평균 세션 &gt;= 15분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온보딩 완료율 &gt;= 80%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D7 리텐션 &gt;= 50%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D30 전에 초기 몰입과 복귀 신호를 설명하는 지표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25880"/>
            <a:ext cx="3566160" cy="448056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Tier 3: 확산 품질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추천율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 유입 리텐션 &gt; 직접 유입 리텐션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 이유에 대한 FGI / UT 인용문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추천이 품질 필터로 작동하는지 보는 지표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오너십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Alpha Test PO는 기능 담당과 별개로 전체 알파 readiness 총괄 오너이기도 하다.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743200" cy="4480560"/>
          </a:xfrm>
          <a:prstGeom prst="roundRect">
            <a:avLst/>
          </a:prstGeom>
          <a:solidFill>
            <a:srgbClr val="3760B2"/>
          </a:solidFill>
          <a:ln>
            <a:solidFill>
              <a:srgbClr val="376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Engine Team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LP 3개, 스토리 15개, 세계관, 공개용 스포일러 안전 재료, 이미지, 보이스 담당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커뮤니티 운영에 필요한 이야기 재료를 공급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325880"/>
            <a:ext cx="2743200" cy="448056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LUCIVE Product Team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랜딩/사전등록 운영, 본 프로덕트 운영, 버그 접수와 triage, 핫픽스, 첫 72시간 운영 담당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유저 동선과 런칭 주간 안정성 책임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325880"/>
            <a:ext cx="2743200" cy="448056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Growth Marketing Team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캠페인 세팅, 이메일, 공식 채널 구성, 커뮤니티 로드맵, 운영 포맷 담당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유료 집행 전 공식 채널을 먼저 열고 채워두는 역할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325880"/>
            <a:ext cx="1965960" cy="4480560"/>
          </a:xfrm>
          <a:prstGeom prst="roundRect">
            <a:avLst/>
          </a:prstGeom>
          <a:solidFill>
            <a:srgbClr val="BF3C31"/>
          </a:solidFill>
          <a:ln>
            <a:solidFill>
              <a:srgbClr val="BF3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Alpha Test PO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설문, 트래킹, KPI 정의, FGI 운영, 마스터 로스터, Go/No-Go 게이트 담당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각 영역의 준비 상태를 최종 점검하는 총괄 오너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핵심 준비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커뮤니티 오픈이 캠페인보다 앞선다. 퍼널 검증은 둘보다 더 앞서 끝나야 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4/23-4/25: </a:t>
            </a:r>
            <a:r>
              <a:rPr dirty="0" err="1"/>
              <a:t>알파</a:t>
            </a:r>
            <a:r>
              <a:rPr dirty="0"/>
              <a:t> </a:t>
            </a:r>
            <a:r>
              <a:rPr dirty="0" err="1"/>
              <a:t>목적</a:t>
            </a:r>
            <a:r>
              <a:rPr dirty="0"/>
              <a:t>, </a:t>
            </a:r>
            <a:r>
              <a:rPr dirty="0" err="1"/>
              <a:t>일정</a:t>
            </a:r>
            <a:r>
              <a:rPr dirty="0"/>
              <a:t>, </a:t>
            </a:r>
            <a:r>
              <a:rPr dirty="0" err="1"/>
              <a:t>캠페인</a:t>
            </a:r>
            <a:r>
              <a:rPr dirty="0"/>
              <a:t> </a:t>
            </a:r>
            <a:r>
              <a:rPr dirty="0" err="1"/>
              <a:t>메시지</a:t>
            </a:r>
            <a:r>
              <a:rPr dirty="0"/>
              <a:t> </a:t>
            </a:r>
            <a:r>
              <a:rPr dirty="0" err="1"/>
              <a:t>확정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4/26-4/28: LP 3개 </a:t>
            </a:r>
            <a:r>
              <a:rPr dirty="0" err="1"/>
              <a:t>확정</a:t>
            </a:r>
            <a:r>
              <a:rPr dirty="0"/>
              <a:t>, </a:t>
            </a:r>
            <a:r>
              <a:rPr dirty="0" err="1"/>
              <a:t>세계관</a:t>
            </a:r>
            <a:r>
              <a:rPr dirty="0"/>
              <a:t> </a:t>
            </a:r>
            <a:r>
              <a:rPr dirty="0" err="1"/>
              <a:t>요약</a:t>
            </a:r>
            <a:r>
              <a:rPr dirty="0"/>
              <a:t>, </a:t>
            </a:r>
            <a:r>
              <a:rPr dirty="0" err="1"/>
              <a:t>랜딩</a:t>
            </a:r>
            <a:r>
              <a:rPr dirty="0"/>
              <a:t> QA, </a:t>
            </a:r>
            <a:r>
              <a:rPr dirty="0" err="1"/>
              <a:t>사전등록</a:t>
            </a:r>
            <a:r>
              <a:rPr dirty="0"/>
              <a:t> QA, </a:t>
            </a:r>
            <a:r>
              <a:rPr dirty="0" err="1"/>
              <a:t>설문</a:t>
            </a:r>
            <a:r>
              <a:rPr dirty="0"/>
              <a:t> QA, </a:t>
            </a:r>
            <a:r>
              <a:rPr dirty="0" err="1"/>
              <a:t>온보딩</a:t>
            </a:r>
            <a:r>
              <a:rPr dirty="0"/>
              <a:t> </a:t>
            </a:r>
            <a:r>
              <a:rPr dirty="0" err="1"/>
              <a:t>측정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정리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4/29-4/30: KR/JP/US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채널</a:t>
            </a:r>
            <a:r>
              <a:rPr dirty="0"/>
              <a:t> </a:t>
            </a:r>
            <a:r>
              <a:rPr dirty="0" err="1"/>
              <a:t>오픈</a:t>
            </a:r>
            <a:r>
              <a:rPr dirty="0"/>
              <a:t>, </a:t>
            </a:r>
            <a:r>
              <a:rPr dirty="0" err="1"/>
              <a:t>커뮤니티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가이드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, 1차 </a:t>
            </a:r>
            <a:r>
              <a:rPr dirty="0" err="1"/>
              <a:t>스토리라인</a:t>
            </a:r>
            <a:r>
              <a:rPr dirty="0"/>
              <a:t> 5개 </a:t>
            </a:r>
            <a:r>
              <a:rPr dirty="0" err="1"/>
              <a:t>완성</a:t>
            </a:r>
            <a:r>
              <a:rPr dirty="0"/>
              <a:t>, 5/1~5/7 </a:t>
            </a:r>
            <a:r>
              <a:rPr dirty="0" err="1"/>
              <a:t>콘텐츠</a:t>
            </a:r>
            <a:r>
              <a:rPr dirty="0"/>
              <a:t> </a:t>
            </a:r>
            <a:r>
              <a:rPr dirty="0" err="1"/>
              <a:t>로드맵</a:t>
            </a:r>
            <a:r>
              <a:rPr dirty="0"/>
              <a:t> </a:t>
            </a:r>
            <a:r>
              <a:rPr dirty="0" err="1"/>
              <a:t>준비</a:t>
            </a:r>
            <a:r>
              <a:rPr dirty="0"/>
              <a:t>, </a:t>
            </a:r>
            <a:r>
              <a:rPr dirty="0" err="1"/>
              <a:t>유료</a:t>
            </a:r>
            <a:r>
              <a:rPr dirty="0"/>
              <a:t> </a:t>
            </a:r>
            <a:r>
              <a:rPr dirty="0" err="1"/>
              <a:t>집행</a:t>
            </a:r>
            <a:r>
              <a:rPr dirty="0"/>
              <a:t> </a:t>
            </a:r>
            <a:r>
              <a:rPr dirty="0" err="1"/>
              <a:t>마감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5/01: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채널과</a:t>
            </a:r>
            <a:r>
              <a:rPr dirty="0"/>
              <a:t> </a:t>
            </a:r>
            <a:r>
              <a:rPr dirty="0" err="1"/>
              <a:t>유료</a:t>
            </a:r>
            <a:r>
              <a:rPr dirty="0"/>
              <a:t> </a:t>
            </a:r>
            <a:r>
              <a:rPr dirty="0" err="1"/>
              <a:t>캠페인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오픈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5/01-5/07: </a:t>
            </a:r>
            <a:r>
              <a:rPr dirty="0" err="1"/>
              <a:t>모집</a:t>
            </a:r>
            <a:r>
              <a:rPr dirty="0"/>
              <a:t> </a:t>
            </a:r>
            <a:r>
              <a:rPr dirty="0" err="1"/>
              <a:t>진행</a:t>
            </a:r>
            <a:r>
              <a:rPr dirty="0"/>
              <a:t>, </a:t>
            </a:r>
            <a:r>
              <a:rPr dirty="0" err="1"/>
              <a:t>일자별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/</a:t>
            </a:r>
            <a:r>
              <a:rPr dirty="0" err="1"/>
              <a:t>커뮤니티</a:t>
            </a:r>
            <a:r>
              <a:rPr dirty="0"/>
              <a:t> </a:t>
            </a:r>
            <a:r>
              <a:rPr dirty="0" err="1"/>
              <a:t>스토리라인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, 2차 </a:t>
            </a:r>
            <a:r>
              <a:rPr dirty="0" err="1"/>
              <a:t>스토리라인</a:t>
            </a:r>
            <a:r>
              <a:rPr dirty="0"/>
              <a:t> 5개 </a:t>
            </a:r>
            <a:r>
              <a:rPr dirty="0" err="1"/>
              <a:t>완성</a:t>
            </a:r>
            <a:r>
              <a:rPr dirty="0"/>
              <a:t>, </a:t>
            </a:r>
            <a:r>
              <a:rPr dirty="0" err="1"/>
              <a:t>퍼널</a:t>
            </a:r>
            <a:r>
              <a:rPr dirty="0"/>
              <a:t> </a:t>
            </a:r>
            <a:r>
              <a:rPr dirty="0" err="1"/>
              <a:t>품질</a:t>
            </a:r>
            <a:r>
              <a:rPr dirty="0"/>
              <a:t> </a:t>
            </a:r>
            <a:r>
              <a:rPr dirty="0" err="1"/>
              <a:t>모니터링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5/06: </a:t>
            </a:r>
            <a:r>
              <a:rPr dirty="0" err="1"/>
              <a:t>모집</a:t>
            </a:r>
            <a:r>
              <a:rPr dirty="0"/>
              <a:t> </a:t>
            </a:r>
            <a:r>
              <a:rPr dirty="0" err="1"/>
              <a:t>마감일을</a:t>
            </a:r>
            <a:r>
              <a:rPr dirty="0"/>
              <a:t> 5/8로 </a:t>
            </a:r>
            <a:r>
              <a:rPr dirty="0" err="1"/>
              <a:t>갈지</a:t>
            </a:r>
            <a:r>
              <a:rPr dirty="0"/>
              <a:t> 5/15로 </a:t>
            </a:r>
            <a:r>
              <a:rPr dirty="0" err="1"/>
              <a:t>늘릴지</a:t>
            </a:r>
            <a:r>
              <a:rPr dirty="0"/>
              <a:t> </a:t>
            </a:r>
            <a:r>
              <a:rPr dirty="0" err="1"/>
              <a:t>결정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5/08-5/12: </a:t>
            </a:r>
            <a:r>
              <a:rPr dirty="0" err="1"/>
              <a:t>선발</a:t>
            </a:r>
            <a:r>
              <a:rPr dirty="0"/>
              <a:t>, </a:t>
            </a:r>
            <a:r>
              <a:rPr dirty="0" err="1"/>
              <a:t>온보딩</a:t>
            </a:r>
            <a:r>
              <a:rPr dirty="0"/>
              <a:t> </a:t>
            </a:r>
            <a:r>
              <a:rPr dirty="0" err="1"/>
              <a:t>가이드</a:t>
            </a:r>
            <a:r>
              <a:rPr dirty="0"/>
              <a:t>, KPI </a:t>
            </a:r>
            <a:r>
              <a:rPr dirty="0" err="1"/>
              <a:t>트래커</a:t>
            </a:r>
            <a:r>
              <a:rPr dirty="0"/>
              <a:t>, </a:t>
            </a:r>
            <a:r>
              <a:rPr dirty="0" err="1"/>
              <a:t>버그</a:t>
            </a:r>
            <a:r>
              <a:rPr dirty="0"/>
              <a:t> </a:t>
            </a:r>
            <a:r>
              <a:rPr dirty="0" err="1"/>
              <a:t>응대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, FGI </a:t>
            </a:r>
            <a:r>
              <a:rPr dirty="0" err="1"/>
              <a:t>후속</a:t>
            </a:r>
            <a:r>
              <a:rPr dirty="0"/>
              <a:t> </a:t>
            </a:r>
            <a:r>
              <a:rPr dirty="0" err="1"/>
              <a:t>설문</a:t>
            </a:r>
            <a:r>
              <a:rPr dirty="0"/>
              <a:t> </a:t>
            </a:r>
            <a:r>
              <a:rPr dirty="0" err="1"/>
              <a:t>마무리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5/14: 3차 </a:t>
            </a:r>
            <a:r>
              <a:rPr dirty="0" err="1"/>
              <a:t>스토리라인</a:t>
            </a:r>
            <a:r>
              <a:rPr dirty="0"/>
              <a:t> 5개 </a:t>
            </a:r>
            <a:r>
              <a:rPr dirty="0" err="1"/>
              <a:t>완성</a:t>
            </a:r>
            <a:r>
              <a:rPr dirty="0"/>
              <a:t>,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리허설과</a:t>
            </a:r>
            <a:r>
              <a:rPr dirty="0"/>
              <a:t> Go/No-Go </a:t>
            </a:r>
            <a:r>
              <a:rPr dirty="0" err="1"/>
              <a:t>판단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5/22: </a:t>
            </a:r>
            <a:r>
              <a:rPr dirty="0" err="1"/>
              <a:t>권장</a:t>
            </a:r>
            <a:r>
              <a:rPr dirty="0"/>
              <a:t> </a:t>
            </a:r>
            <a:r>
              <a:rPr dirty="0" err="1"/>
              <a:t>알파</a:t>
            </a:r>
            <a:r>
              <a:rPr dirty="0"/>
              <a:t> </a:t>
            </a:r>
            <a:r>
              <a:rPr dirty="0" err="1"/>
              <a:t>런칭일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상위 체크리스트 스냅샷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PO 체크 컬럼은 제거하고 각 항목의 담당팀만 남겼다.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325880"/>
          <a:ext cx="106070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영역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세부 영역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중요도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담당팀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데드라인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알파 목적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알파 목적과 성공 정의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Alpha Test PO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2026-04-23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기본 일정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5월 1일 채널 오픈 / 캠페인 시작 기준 일정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Alpha Test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구성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핵심 LP 3개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LP별 감정 훅과 차별 포인트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플레이 가능성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1 플레이 품질 기준 도달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2026-05-07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플레이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2, LP 3 플레이 가능 수준 도달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2026-05-14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관계 지속성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기억/일관성 통과 기준 정의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안정성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치명 버그 심각도와 핫픽스 기준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LUCIVE Product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스토리 슬레이트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스토리 15개 목록과 구조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스토리 슬레이트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1차 스토리라인 5개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스토리 슬레이트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2차 스토리라인 5개 추가 완성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2026-05-07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스토리 슬레이트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3차 스토리라인 5개 추가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2026-05-14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몰입 자산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3개 세계관 요약본 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몰입 자산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3개 채팅용 이미지 최소 세트 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Go / No-Go 디시전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제품, 퍼널, 커뮤니티, 측정 중 하나라도 Blocker가 비면 런칭하면 안 된다.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09728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디시전 포인트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Go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No-Go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 최소 사용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3개 플레이 가능, 진행 불가 버그 없음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하나 이상 unusable 또는 치명 버그 지속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 자체가 안 돌면 알파의 의미가 없음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복귀를 만들 콘텐츠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플레이 가능한 스토리 10개 이상, 15개 구조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복귀 이유가 너무 얕아 가설 검증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이번 알파는 서사 견인력 검증이 핵심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캠페인 전 채널 오픈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KR/JP/US 공식 채널 오픈 + 첫 주 게시물 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유료 유입이 빈 채널로 떨어짐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기대감은 캠페인 전에 쌓아야 함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모집 퍼널 정상 동작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랜딩 -&gt; 등록 -&gt; 설문 -&gt; 로스터 저장이 한 바퀴 돈다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중간 어디선가 끊기거나 데이터가 유실됨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모집은 되는데 선발 운영이 안 되는 상황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핵심 KPI 측정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D7, 같은 LP 재방문, 온보딩, 세션 길이 측정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런칭 후에도 핵심 지표를 못 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검증형 알파 목적 상실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65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첫 72시간 운영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담당자, 버그 접수 체계, 회신/공지 템플릿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첫 주말 오너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초기 신뢰 붕괴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이번 주 바로 볼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지금은 런칭 폴리시보다 먼저 검증 구조와 운영 골격을 완성해야 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20440" cy="4389120"/>
          </a:xfrm>
          <a:prstGeom prst="roundRect">
            <a:avLst/>
          </a:prstGeom>
          <a:solidFill>
            <a:srgbClr val="182340"/>
          </a:solidFill>
          <a:ln>
            <a:solidFill>
              <a:srgbClr val="18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4/25까지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알파 목적, 일정, 메시지 확정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팀 오너십 확정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스토리 15개 구조와 커뮤니티용 이야기 재료 정리 시작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520440" cy="438912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4/28까지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LP 3개 확정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랜딩/사전등록/설문 QA 완료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세계관 요약과 스토리 15개 구조 확정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520440" cy="438912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5/1까지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1차 스토리라인 5개 완성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KR/JP/US 공식 채널 오픈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5/1~5/7 커뮤니티 콘텐츠 로드맵 게시 가능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1268</Words>
  <Application>Microsoft Office PowerPoint</Application>
  <PresentationFormat>와이드스크린</PresentationFormat>
  <Paragraphs>227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WONSEOK WOO</cp:lastModifiedBy>
  <cp:revision>2</cp:revision>
  <dcterms:created xsi:type="dcterms:W3CDTF">2013-01-27T09:14:16Z</dcterms:created>
  <dcterms:modified xsi:type="dcterms:W3CDTF">2026-04-24T04:58:53Z</dcterms:modified>
  <cp:category/>
</cp:coreProperties>
</file>