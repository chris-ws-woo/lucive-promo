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Lucive 알파 검증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2026-04-23 | 검증 포인트, KPI, 오너십, 준비 일정, Go/No-Go 게이트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60020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이번 알파의 목적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기반 LP가 감정적 연결과 자발적 복귀를 만드는지 검증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모집-선발-온보딩-피드백 루프를 운영 가능한 형태로 실제로 돌려보기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60020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반드시 측정할 것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/ D30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완료율과 세션 길이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품질과 FGI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160020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운영 원칙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공식 채널은 유료 캠페인 전에 먼저 연다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5월 1일은 채널 오픈 + 캠페인 시작일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Alpha Test PO가 전체 readiness 게이트 오너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권장 일정은 4/28 퍼널 검증 완료, 5/1 채널/캠페인 오픈, 5/8 또는 5/15 모집 마감 게이트, 5/22 알파 런칭이다.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최소 제품 기준은 LP 3개, 스토리 15개, 세계관/이미지/보이스 최소 세트, 바이럴 자산 3개다.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이 덱은 무엇을 검증할지, 어떻게 측정할지, 누가 책임질지, 언제까지 준비해야 하는지 중심으로 재구성했다.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알파에서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각 검증 포인트는 KPI와 오너, 준비 항목으로 연결되어야 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948437"/>
              </p:ext>
            </p:extLst>
          </p:nvPr>
        </p:nvGraphicFramePr>
        <p:xfrm>
          <a:off x="411480" y="132588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 err="1"/>
                        <a:t>검증</a:t>
                      </a:r>
                      <a:r>
                        <a:rPr sz="1100" dirty="0"/>
                        <a:t> 축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가설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KPI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성공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오너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자발적 복귀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스토리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기반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경험이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푸쉬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없이도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자발적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복귀를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만든다</a:t>
                      </a:r>
                      <a:r>
                        <a:rPr sz="1050" dirty="0"/>
                        <a:t>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D7 </a:t>
                      </a:r>
                      <a:r>
                        <a:rPr sz="1050" dirty="0" err="1"/>
                        <a:t>리텐션</a:t>
                      </a:r>
                      <a:r>
                        <a:rPr sz="1050" dirty="0"/>
                        <a:t>, D30 </a:t>
                      </a:r>
                      <a:r>
                        <a:rPr sz="1050" dirty="0" err="1"/>
                        <a:t>리텐션</a:t>
                      </a:r>
                      <a:endParaRPr sz="105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D7 50% 이상, D30 35% 이상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lang="en-US" sz="1050" dirty="0"/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관계 지속성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유저는</a:t>
                      </a:r>
                      <a:r>
                        <a:rPr sz="1050" dirty="0"/>
                        <a:t> 앱 </a:t>
                      </a:r>
                      <a:r>
                        <a:rPr sz="1050" dirty="0" err="1"/>
                        <a:t>자체가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아니라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같은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LP와의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관계를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이어가기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위해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돌아온다</a:t>
                      </a:r>
                      <a:r>
                        <a:rPr sz="1050" dirty="0"/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같은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재방문율</a:t>
                      </a:r>
                      <a:r>
                        <a:rPr sz="1050" dirty="0"/>
                        <a:t>, </a:t>
                      </a:r>
                      <a:r>
                        <a:rPr sz="1050" dirty="0" err="1"/>
                        <a:t>같은</a:t>
                      </a:r>
                      <a:r>
                        <a:rPr sz="1050" dirty="0"/>
                        <a:t> LP </a:t>
                      </a:r>
                      <a:r>
                        <a:rPr sz="1050" dirty="0" err="1"/>
                        <a:t>재방문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인터뷰</a:t>
                      </a:r>
                      <a:endParaRPr sz="10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복귀 유저가 같은 LP를 명확히 선호하고 그 이유를 설명할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lang="en-US" sz="1050" dirty="0"/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서사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LP 3개와 스토리 15개 구조가 1~2일 단위 복귀 이유를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유저당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복귀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세션</a:t>
                      </a:r>
                      <a:r>
                        <a:rPr sz="1050" dirty="0"/>
                        <a:t> 수, </a:t>
                      </a:r>
                      <a:r>
                        <a:rPr sz="1050" dirty="0" err="1"/>
                        <a:t>스토리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소비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깊이</a:t>
                      </a:r>
                      <a:r>
                        <a:rPr sz="1050" dirty="0"/>
                        <a:t>, FGI </a:t>
                      </a:r>
                      <a:r>
                        <a:rPr sz="1050" dirty="0" err="1"/>
                        <a:t>코멘트</a:t>
                      </a:r>
                      <a:endParaRPr sz="105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 err="1"/>
                        <a:t>런칭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주간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스토리만으로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최소</a:t>
                      </a:r>
                      <a:r>
                        <a:rPr sz="1050" dirty="0"/>
                        <a:t> 1주일 </a:t>
                      </a:r>
                      <a:r>
                        <a:rPr sz="1050" dirty="0" err="1"/>
                        <a:t>복귀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동기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확보</a:t>
                      </a:r>
                      <a:endParaRPr sz="1050"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몰입도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세계관, 이미지, 보이스가 다소 거친 알파 UX를 상쇄할 만큼 몰입을 만든다.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평균 세션 길이, 온보딩 완료율, FGI 인용문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세션 15분 이상, 온보딩 80% 이상, 몰입 관련 긍정 코멘트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AI Engine Team + </a:t>
                      </a:r>
                      <a:r>
                        <a:rPr lang="en-US" sz="1050" dirty="0"/>
                        <a:t>Platform PO</a:t>
                      </a:r>
                      <a:endParaRPr sz="10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커뮤니티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개발 소식과 커뮤니티 운영이 모집 전환과 기대감을 올린다.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커뮤니티 입장률, 설문 완료율, 커뮤니티 참여자 품질 비교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/>
                        <a:t>5월 1일 전 채널 오픈, 모집 전환에 실제 기여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sz="1050" dirty="0"/>
                        <a:t>Growth Marketing Team + 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KPI 측정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Tier 1은 thesis 증명, Tier 2는 해석 보강, Tier 3는 확산 품질 설명에 사용한다.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66160" cy="448056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1: 반드시 측정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D30 리텐션 &gt;= 35%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DAU / MAU &gt;= 50%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관계 형성의 직접 증거가 되는 지표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325880"/>
            <a:ext cx="356616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2: 보조 지표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평균 세션 &gt;= 15분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 &gt;= 80%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리텐션 &gt;= 50%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D30 전에 초기 몰입과 복귀 신호를 설명하는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6616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Tier 3: 확산 품질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리텐션 &gt; 직접 유입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이유에 대한 FGI / UT 인용문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추천이 품질 필터로 작동하는지 보는 지표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오너십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743200" cy="448056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Engine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3개, 스토리 15개, 세계관, 공개용 스포일러 안전 재료, 이미지, 보이스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커뮤니티 운영에 필요한 이야기 재료를 공급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25880"/>
            <a:ext cx="274320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LUCIVE Product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 운영, 본 프로덕트 운영, 버그 접수와 triage, 핫픽스, 첫 72시간 운영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유저 동선과 런칭 주간 안정성 책임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325880"/>
            <a:ext cx="274320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Growth Marketing Team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캠페인 세팅, 이메일, 공식 채널 구성, 커뮤니티 로드맵, 운영 포맷 담당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유료 집행 전 공식 채널을 먼저 열고 채워두는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325880"/>
            <a:ext cx="1965960" cy="4480560"/>
          </a:xfrm>
          <a:prstGeom prst="roundRect">
            <a:avLst/>
          </a:prstGeom>
          <a:solidFill>
            <a:srgbClr val="BF3C31"/>
          </a:solidFill>
          <a:ln>
            <a:solidFill>
              <a:srgbClr val="BF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Alpha Test PO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rPr dirty="0" err="1"/>
              <a:t>설문</a:t>
            </a:r>
            <a:r>
              <a:rPr dirty="0"/>
              <a:t>, </a:t>
            </a:r>
            <a:r>
              <a:rPr dirty="0" err="1"/>
              <a:t>트래킹</a:t>
            </a:r>
            <a:r>
              <a:rPr dirty="0"/>
              <a:t>, KPI </a:t>
            </a:r>
            <a:r>
              <a:rPr dirty="0" err="1"/>
              <a:t>정의</a:t>
            </a:r>
            <a:r>
              <a:rPr dirty="0"/>
              <a:t>, FGI </a:t>
            </a:r>
            <a:r>
              <a:rPr dirty="0" err="1"/>
              <a:t>운영</a:t>
            </a:r>
            <a:r>
              <a:rPr dirty="0"/>
              <a:t>,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로스터</a:t>
            </a:r>
            <a:r>
              <a:rPr dirty="0"/>
              <a:t>, Go/No-Go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담당</a:t>
            </a:r>
            <a:endParaRPr dirty="0"/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rPr lang="ko-KR" altLang="en-US" dirty="0"/>
              <a:t>알파테스트 운영에 필요한 점 점검 및 지원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핵심 준비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커뮤니티 오픈이 캠페인보다 앞선다. 퍼널 검증은 둘보다 더 앞서 끝나야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326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4/23-4/25: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, LP 3, </a:t>
            </a:r>
            <a:r>
              <a:rPr dirty="0" err="1"/>
              <a:t>캠페인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, </a:t>
            </a:r>
            <a:r>
              <a:rPr dirty="0" err="1"/>
              <a:t>스토리</a:t>
            </a:r>
            <a:r>
              <a:rPr dirty="0"/>
              <a:t> 15개 </a:t>
            </a:r>
            <a:r>
              <a:rPr dirty="0" err="1"/>
              <a:t>슬레이트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4/26-4/28: </a:t>
            </a:r>
            <a:r>
              <a:rPr dirty="0" err="1"/>
              <a:t>세계관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, </a:t>
            </a:r>
            <a:r>
              <a:rPr dirty="0" err="1"/>
              <a:t>랜딩</a:t>
            </a:r>
            <a:r>
              <a:rPr dirty="0"/>
              <a:t> QA, </a:t>
            </a:r>
            <a:r>
              <a:rPr dirty="0" err="1"/>
              <a:t>사전등록</a:t>
            </a:r>
            <a:r>
              <a:rPr dirty="0"/>
              <a:t> QA, </a:t>
            </a:r>
            <a:r>
              <a:rPr dirty="0" err="1"/>
              <a:t>설문</a:t>
            </a:r>
            <a:r>
              <a:rPr dirty="0"/>
              <a:t> QA, </a:t>
            </a:r>
            <a:r>
              <a:rPr dirty="0" err="1"/>
              <a:t>온보딩</a:t>
            </a:r>
            <a:r>
              <a:rPr dirty="0"/>
              <a:t> </a:t>
            </a:r>
            <a:r>
              <a:rPr dirty="0" err="1"/>
              <a:t>측정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정리</a:t>
            </a:r>
            <a:r>
              <a:rPr lang="en-US" dirty="0"/>
              <a:t>, </a:t>
            </a:r>
            <a:r>
              <a:rPr lang="ko-KR" altLang="en-US" dirty="0"/>
              <a:t>선발 기준 확정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4/29-4/30: KR/JP/US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오픈</a:t>
            </a:r>
            <a:r>
              <a:rPr dirty="0"/>
              <a:t>, 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가이드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, 5/1~5/7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로드맵</a:t>
            </a:r>
            <a:r>
              <a:rPr dirty="0"/>
              <a:t> </a:t>
            </a:r>
            <a:r>
              <a:rPr dirty="0" err="1"/>
              <a:t>준비</a:t>
            </a:r>
            <a:endParaRPr lang="en-US"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5/01: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채널과</a:t>
            </a:r>
            <a:r>
              <a:rPr dirty="0"/>
              <a:t> </a:t>
            </a:r>
            <a:r>
              <a:rPr dirty="0" err="1"/>
              <a:t>유료</a:t>
            </a:r>
            <a:r>
              <a:rPr dirty="0"/>
              <a:t> </a:t>
            </a:r>
            <a:r>
              <a:rPr dirty="0" err="1"/>
              <a:t>캠페인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오픈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5/01-5/07: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, </a:t>
            </a:r>
            <a:r>
              <a:rPr dirty="0" err="1"/>
              <a:t>일자별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/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스토리라인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, </a:t>
            </a:r>
            <a:r>
              <a:rPr lang="ko-KR" altLang="en-US" dirty="0"/>
              <a:t>등록 </a:t>
            </a:r>
            <a:r>
              <a:rPr dirty="0" err="1"/>
              <a:t>퍼널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모니터링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5/06: </a:t>
            </a:r>
            <a:r>
              <a:rPr dirty="0" err="1"/>
              <a:t>모집</a:t>
            </a:r>
            <a:r>
              <a:rPr dirty="0"/>
              <a:t> </a:t>
            </a:r>
            <a:r>
              <a:rPr dirty="0" err="1"/>
              <a:t>마감일을</a:t>
            </a:r>
            <a:r>
              <a:rPr dirty="0"/>
              <a:t> 5/8로 </a:t>
            </a:r>
            <a:r>
              <a:rPr dirty="0" err="1"/>
              <a:t>갈지</a:t>
            </a:r>
            <a:r>
              <a:rPr dirty="0"/>
              <a:t> 5/15로 </a:t>
            </a:r>
            <a:r>
              <a:rPr dirty="0" err="1"/>
              <a:t>늘릴지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5/08-5/12: </a:t>
            </a:r>
            <a:r>
              <a:rPr dirty="0" err="1"/>
              <a:t>선발</a:t>
            </a:r>
            <a:r>
              <a:rPr dirty="0"/>
              <a:t>, </a:t>
            </a:r>
            <a:r>
              <a:rPr dirty="0" err="1"/>
              <a:t>온보딩</a:t>
            </a:r>
            <a:r>
              <a:rPr dirty="0"/>
              <a:t> </a:t>
            </a:r>
            <a:r>
              <a:rPr dirty="0" err="1"/>
              <a:t>가이드</a:t>
            </a:r>
            <a:r>
              <a:rPr dirty="0"/>
              <a:t>, KPI </a:t>
            </a:r>
            <a:r>
              <a:rPr dirty="0" err="1"/>
              <a:t>트래커</a:t>
            </a:r>
            <a:r>
              <a:rPr dirty="0"/>
              <a:t>, 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응대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, FGI </a:t>
            </a:r>
            <a:r>
              <a:rPr dirty="0" err="1"/>
              <a:t>후속</a:t>
            </a:r>
            <a:r>
              <a:rPr dirty="0"/>
              <a:t> </a:t>
            </a:r>
            <a:r>
              <a:rPr dirty="0" err="1"/>
              <a:t>설문</a:t>
            </a:r>
            <a:r>
              <a:rPr dirty="0"/>
              <a:t> </a:t>
            </a:r>
            <a:r>
              <a:rPr dirty="0" err="1"/>
              <a:t>마무리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5/14: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리허설과</a:t>
            </a:r>
            <a:r>
              <a:rPr dirty="0"/>
              <a:t> Go/No-Go </a:t>
            </a:r>
            <a:r>
              <a:rPr dirty="0" err="1"/>
              <a:t>판단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5/22: </a:t>
            </a:r>
            <a:r>
              <a:rPr dirty="0" err="1"/>
              <a:t>권장</a:t>
            </a:r>
            <a:r>
              <a:rPr dirty="0"/>
              <a:t> </a:t>
            </a:r>
            <a:r>
              <a:rPr dirty="0" err="1"/>
              <a:t>알파</a:t>
            </a:r>
            <a:r>
              <a:rPr dirty="0"/>
              <a:t> </a:t>
            </a:r>
            <a:r>
              <a:rPr dirty="0" err="1"/>
              <a:t>런칭일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상위 체크리스트 스냅샷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564899"/>
              </p:ext>
            </p:extLst>
          </p:nvPr>
        </p:nvGraphicFramePr>
        <p:xfrm>
          <a:off x="944956" y="1201815"/>
          <a:ext cx="9235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세부 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담당팀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데드라인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알파 목적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알파 목적과 성공 정의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lang="en-US" dirty="0"/>
                        <a:t>All</a:t>
                      </a:r>
                      <a:endParaRPr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기본 일정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5월 1일 채널 오픈 / 캠페인 시작 기준 일정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구성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핵심 LP 3개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LP별 감정 훅과 차별 포인트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1 플레이 품질 기준 도달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2026-05-02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2, LP 3 플레이 가능 수준 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관계 지속성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기억/일관성 통과 기준 정의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안정성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치명 버그 심각도와 핫픽스 기준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15개 목록과 크기 티어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커뮤니티 티징 및 런칭 주간용 선행 스토리 5개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스토리 슬레이트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가능한 스토리 최소 10개 확보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 자산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세계관 요약본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 자산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채팅용 이미지 최소 세트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몰입 자산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보이스 샘플 최소 세트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dirty="0"/>
                        <a:t>2026-05-04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Go / No-Go 디시전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 err="1">
                <a:solidFill>
                  <a:srgbClr val="606C84"/>
                </a:solidFill>
              </a:rPr>
              <a:t>제품</a:t>
            </a:r>
            <a:r>
              <a:rPr sz="1100" dirty="0">
                <a:solidFill>
                  <a:srgbClr val="606C84"/>
                </a:solidFill>
              </a:rPr>
              <a:t>, </a:t>
            </a:r>
            <a:r>
              <a:rPr sz="1100" dirty="0" err="1">
                <a:solidFill>
                  <a:srgbClr val="606C84"/>
                </a:solidFill>
              </a:rPr>
              <a:t>퍼널</a:t>
            </a:r>
            <a:r>
              <a:rPr sz="1100" dirty="0">
                <a:solidFill>
                  <a:srgbClr val="606C84"/>
                </a:solidFill>
              </a:rPr>
              <a:t>, </a:t>
            </a:r>
            <a:r>
              <a:rPr sz="1100" dirty="0" err="1">
                <a:solidFill>
                  <a:srgbClr val="606C84"/>
                </a:solidFill>
              </a:rPr>
              <a:t>커뮤니티</a:t>
            </a:r>
            <a:r>
              <a:rPr sz="1100" dirty="0">
                <a:solidFill>
                  <a:srgbClr val="606C84"/>
                </a:solidFill>
              </a:rPr>
              <a:t>, </a:t>
            </a:r>
            <a:r>
              <a:rPr sz="1100" dirty="0" err="1">
                <a:solidFill>
                  <a:srgbClr val="606C84"/>
                </a:solidFill>
              </a:rPr>
              <a:t>측정</a:t>
            </a:r>
            <a:r>
              <a:rPr sz="1100" dirty="0">
                <a:solidFill>
                  <a:srgbClr val="606C84"/>
                </a:solidFill>
              </a:rPr>
              <a:t> 중 </a:t>
            </a:r>
            <a:r>
              <a:rPr sz="1100" dirty="0" err="1">
                <a:solidFill>
                  <a:srgbClr val="606C84"/>
                </a:solidFill>
              </a:rPr>
              <a:t>하나라도</a:t>
            </a:r>
            <a:r>
              <a:rPr sz="1100" dirty="0">
                <a:solidFill>
                  <a:srgbClr val="606C84"/>
                </a:solidFill>
              </a:rPr>
              <a:t> Blocker가 </a:t>
            </a:r>
            <a:r>
              <a:rPr sz="1100" dirty="0" err="1">
                <a:solidFill>
                  <a:srgbClr val="606C84"/>
                </a:solidFill>
              </a:rPr>
              <a:t>비면</a:t>
            </a:r>
            <a:r>
              <a:rPr sz="1100" dirty="0">
                <a:solidFill>
                  <a:srgbClr val="606C84"/>
                </a:solidFill>
              </a:rPr>
              <a:t> </a:t>
            </a:r>
            <a:r>
              <a:rPr sz="1100" dirty="0" err="1">
                <a:solidFill>
                  <a:srgbClr val="606C84"/>
                </a:solidFill>
              </a:rPr>
              <a:t>런칭하면</a:t>
            </a:r>
            <a:r>
              <a:rPr sz="1100" dirty="0">
                <a:solidFill>
                  <a:srgbClr val="606C84"/>
                </a:solidFill>
              </a:rPr>
              <a:t> 안 </a:t>
            </a:r>
            <a:r>
              <a:rPr sz="1100" dirty="0" err="1">
                <a:solidFill>
                  <a:srgbClr val="606C84"/>
                </a:solidFill>
              </a:rPr>
              <a:t>된다</a:t>
            </a:r>
            <a:r>
              <a:rPr sz="1100" dirty="0">
                <a:solidFill>
                  <a:srgbClr val="606C84"/>
                </a:solidFill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298501"/>
              </p:ext>
            </p:extLst>
          </p:nvPr>
        </p:nvGraphicFramePr>
        <p:xfrm>
          <a:off x="411480" y="132588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디시전 포인트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No-Go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 최소 사용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3개 플레이 가능, 진행 불가 버그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LP 하나 이상 unusable 또는 치명 버그 지속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제품 자체가 안 돌면 알파의 의미가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복귀를 만들 콘텐츠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플레이 가능한 스토리 10개 이상, 15개 구조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복귀 이유가 너무 얕아 가설 검증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이번 알파는 서사 견인력 검증이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캠페인 전 채널 오픈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dirty="0"/>
                        <a:t>KR/JP/US </a:t>
                      </a:r>
                      <a:r>
                        <a:rPr dirty="0" err="1"/>
                        <a:t>공식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채널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오픈</a:t>
                      </a:r>
                      <a:r>
                        <a:rPr dirty="0"/>
                        <a:t> + 첫 주 </a:t>
                      </a:r>
                      <a:r>
                        <a:rPr dirty="0" err="1"/>
                        <a:t>게시물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준비</a:t>
                      </a:r>
                      <a:r>
                        <a:rPr lang="en-US" dirty="0"/>
                        <a:t> + </a:t>
                      </a:r>
                      <a:r>
                        <a:rPr lang="ko-KR" altLang="en-US" dirty="0"/>
                        <a:t>각 언어 </a:t>
                      </a:r>
                      <a:r>
                        <a:rPr lang="ko-KR" altLang="en-US" dirty="0" err="1"/>
                        <a:t>능통자</a:t>
                      </a:r>
                      <a:r>
                        <a:rPr lang="ko-KR" altLang="en-US" dirty="0"/>
                        <a:t> 확보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응대</a:t>
                      </a:r>
                      <a:r>
                        <a:rPr lang="en-US" altLang="ko-KR" dirty="0"/>
                        <a:t>)</a:t>
                      </a:r>
                      <a:endParaRPr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dirty="0" err="1"/>
                        <a:t>유료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유입이</a:t>
                      </a:r>
                      <a:r>
                        <a:rPr dirty="0"/>
                        <a:t> 빈 </a:t>
                      </a:r>
                      <a:r>
                        <a:rPr dirty="0" err="1"/>
                        <a:t>채널로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떨어짐</a:t>
                      </a:r>
                      <a:endParaRPr dirty="0"/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기대감은 캠페인 전에 쌓아야 함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모집 퍼널 정상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랜딩 -&gt; 등록 -&gt; 설문 -&gt; 로스터 저장이 한 바퀴 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중간 어디선가 끊기거나 데이터가 유실됨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모집은 되는데 선발 운영이 안 되는 상황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핵심 KPI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D7, 같은 LP 재방문, 온보딩, 세션 길이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런칭 후에도 핵심 지표를 못 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검증형 알파 목적 상실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첫 72시간 운영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담당자, 버그 접수 체계, 회신/공지 템플릿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t>첫 주말 오너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82340"/>
                          </a:solidFill>
                        </a:defRPr>
                      </a:pPr>
                      <a:r>
                        <a:rPr dirty="0" err="1"/>
                        <a:t>초기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신뢰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붕괴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방지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주 바로 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지금은 런칭 폴리시보다 먼저 검증 구조와 운영 골격을 완성해야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8912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4/25까지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 목적, 일정, LP 3, 메시지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팀 오너십과 Alpha Test PO 체크 역할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15개 구조와 커뮤니티용 이야기 재료 정리 시작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4/28까지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랜딩/사전등록/설문 QA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세계관 요약과 15개 스토리 슬레이트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온보딩과 퍼널 측정 정의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520440" cy="43891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5/1까지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KR/JP/US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5/1~5/7 커뮤니티 콘텐츠 로드맵 게시 가능 상태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유료 캠페인과 바이럴 자산 3종 집행 가능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1239</Words>
  <Application>Microsoft Office PowerPoint</Application>
  <PresentationFormat>와이드스크린</PresentationFormat>
  <Paragraphs>225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WONSEOK WOO</cp:lastModifiedBy>
  <cp:revision>2</cp:revision>
  <dcterms:created xsi:type="dcterms:W3CDTF">2013-01-27T09:14:16Z</dcterms:created>
  <dcterms:modified xsi:type="dcterms:W3CDTF">2026-04-24T04:58:59Z</dcterms:modified>
  <cp:category/>
</cp:coreProperties>
</file>