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80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Lucive Alpha Top-Down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2026-04-22 기준 | 목적 정렬, 일정 판단, 실행 준비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  <a:solidFill>
            <a:srgbClr val="162340"/>
          </a:solidFill>
          <a:ln>
            <a:solidFill>
              <a:srgbClr val="16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Alpha Mission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스토리 기반 LP가 감정적 연결과 자발적 복귀를 만드는지 검증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운영 가능한 형태로 모집-선발-온보딩-피드백 루프를 돌려보기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17320"/>
            <a:ext cx="3383280" cy="1508760"/>
          </a:xfrm>
          <a:prstGeom prst="roundRect">
            <a:avLst/>
          </a:prstGeom>
          <a:solidFill>
            <a:srgbClr val="D75434"/>
          </a:solidFill>
          <a:ln>
            <a:solidFill>
              <a:srgbClr val="D7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Recommended Path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4/28: 랜딩 + 사전등록 검증 완료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5/01: 유료 마케팅 시작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5/15: 모집 마감 권장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5/22: 목요일 저녁 알파 런칭 권장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566160" cy="1508760"/>
          </a:xfrm>
          <a:prstGeom prst="roundRect">
            <a:avLst/>
          </a:prstGeom>
          <a:solidFill>
            <a:srgbClr val="2F8049"/>
          </a:solidFill>
          <a:ln>
            <a:solidFill>
              <a:srgbClr val="2F8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Minimum Product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핵심</a:t>
            </a:r>
            <a:r>
              <a:rPr dirty="0"/>
              <a:t> LP 3개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lang="ko-KR" altLang="en-US" dirty="0"/>
              <a:t>단편</a:t>
            </a:r>
            <a:r>
              <a:rPr dirty="0" err="1"/>
              <a:t>스토리</a:t>
            </a:r>
            <a:r>
              <a:rPr dirty="0"/>
              <a:t> </a:t>
            </a:r>
            <a:r>
              <a:rPr lang="en-US" dirty="0"/>
              <a:t>15</a:t>
            </a:r>
            <a:r>
              <a:rPr dirty="0"/>
              <a:t>개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LP별</a:t>
            </a:r>
            <a:r>
              <a:rPr dirty="0"/>
              <a:t> </a:t>
            </a:r>
            <a:r>
              <a:rPr dirty="0" err="1"/>
              <a:t>세계관</a:t>
            </a:r>
            <a:r>
              <a:rPr dirty="0"/>
              <a:t>/</a:t>
            </a:r>
            <a:r>
              <a:rPr dirty="0" err="1"/>
              <a:t>그림</a:t>
            </a:r>
            <a:r>
              <a:rPr dirty="0"/>
              <a:t>/</a:t>
            </a:r>
            <a:r>
              <a:rPr dirty="0" err="1"/>
              <a:t>보이스</a:t>
            </a:r>
            <a:r>
              <a:rPr dirty="0"/>
              <a:t>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세트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바이럴용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 3개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340"/>
                </a:solidFill>
              </a:defRPr>
            </a:pPr>
            <a:r>
              <a:t>이번 알파는 성장 실험보다 핵심 가치 검증이 우선이다.</a:t>
            </a:r>
          </a:p>
          <a:p>
            <a:pPr>
              <a:spcAft>
                <a:spcPts val="800"/>
              </a:spcAft>
              <a:defRPr sz="1600">
                <a:solidFill>
                  <a:srgbClr val="162340"/>
                </a:solidFill>
              </a:defRPr>
            </a:pPr>
            <a:r>
              <a:t>모든 항목의 완성도를 맞추는 대신 A급 1개 + B급 2개 구조로 범위를 계층화해야 한다.</a:t>
            </a:r>
          </a:p>
          <a:p>
            <a:pPr>
              <a:spcAft>
                <a:spcPts val="800"/>
              </a:spcAft>
              <a:defRPr sz="1600">
                <a:solidFill>
                  <a:srgbClr val="162340"/>
                </a:solidFill>
              </a:defRPr>
            </a:pPr>
            <a:r>
              <a:t>성공 기준은 D7/D30, 같은 LP 재방문, 온보딩 완료, 세션 길이, 운영 가능성이다.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What Alpha Must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체크리스트는 아래 질문에 답하는 준비만 남기는 방식으로 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206240"/>
          </a:xfrm>
          <a:prstGeom prst="roundRect">
            <a:avLst/>
          </a:prstGeom>
          <a:solidFill>
            <a:srgbClr val="162340"/>
          </a:solidFill>
          <a:ln>
            <a:solidFill>
              <a:srgbClr val="16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Core Product Questions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타깃 유저가 첫 세션에서 기존 서비스와 차이를 느끼는가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푸쉬 없이 다시 돌아오는가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돌아온 유저가 같은 LP를 다시 찾는가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LP 3개가 서로 다른 감정 니즈를 커버하는가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566160" cy="4206240"/>
          </a:xfrm>
          <a:prstGeom prst="roundRect">
            <a:avLst/>
          </a:prstGeom>
          <a:solidFill>
            <a:srgbClr val="D75434"/>
          </a:solidFill>
          <a:ln>
            <a:solidFill>
              <a:srgbClr val="D7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Content Questions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스토리 15개가 실제 복귀 이유를 만드는가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세계관/그림/보이스가 몰입을 올리는가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거친 UX를 감수할 만큼 감정 연결이 생기는가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91840" cy="4206240"/>
          </a:xfrm>
          <a:prstGeom prst="roundRect">
            <a:avLst/>
          </a:prstGeom>
          <a:solidFill>
            <a:srgbClr val="2F8049"/>
          </a:solidFill>
          <a:ln>
            <a:solidFill>
              <a:srgbClr val="2F8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Ops Questions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모집-선발-온보딩이 일정대로 굴러가는가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시장별 공식 채널이 정상 운영 가능한가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피드백과 KPI 측정이 실제로 돌아가는가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Top-Down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전체 준비는 6개 워크스트림으로 관리한다.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743200" cy="1737360"/>
          </a:xfrm>
          <a:prstGeom prst="roundRect">
            <a:avLst/>
          </a:prstGeom>
          <a:solidFill>
            <a:srgbClr val="162340"/>
          </a:solidFill>
          <a:ln>
            <a:solidFill>
              <a:srgbClr val="16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1. Product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LP 3개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기억</a:t>
            </a:r>
            <a:r>
              <a:rPr dirty="0"/>
              <a:t>/</a:t>
            </a:r>
            <a:r>
              <a:rPr dirty="0" err="1"/>
              <a:t>일관성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치명</a:t>
            </a:r>
            <a:r>
              <a:rPr dirty="0"/>
              <a:t> </a:t>
            </a:r>
            <a:r>
              <a:rPr dirty="0" err="1"/>
              <a:t>버그</a:t>
            </a:r>
            <a:r>
              <a:rPr dirty="0"/>
              <a:t> </a:t>
            </a:r>
            <a:r>
              <a:rPr dirty="0" err="1"/>
              <a:t>기준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977639" y="1463040"/>
            <a:ext cx="2743200" cy="1737360"/>
          </a:xfrm>
          <a:prstGeom prst="roundRect">
            <a:avLst/>
          </a:prstGeom>
          <a:solidFill>
            <a:srgbClr val="D75434"/>
          </a:solidFill>
          <a:ln>
            <a:solidFill>
              <a:srgbClr val="D7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Content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스토리 15개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세계관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이미지/보이스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2743200" cy="1737360"/>
          </a:xfrm>
          <a:prstGeom prst="roundRect">
            <a:avLst/>
          </a:prstGeom>
          <a:solidFill>
            <a:srgbClr val="2F8049"/>
          </a:solidFill>
          <a:ln>
            <a:solidFill>
              <a:srgbClr val="2F8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3. Growth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랜딩</a:t>
            </a:r>
            <a:r>
              <a:rPr dirty="0"/>
              <a:t>/</a:t>
            </a:r>
            <a:r>
              <a:rPr dirty="0" err="1"/>
              <a:t>사전등록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마케팅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바이럴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 3개</a:t>
            </a:r>
            <a:r>
              <a:rPr lang="en-US" dirty="0"/>
              <a:t> – LP 3</a:t>
            </a:r>
            <a:r>
              <a:rPr lang="ko-KR" altLang="en-US" dirty="0"/>
              <a:t>개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2743200" cy="1737360"/>
          </a:xfrm>
          <a:prstGeom prst="roundRect">
            <a:avLst/>
          </a:prstGeom>
          <a:solidFill>
            <a:srgbClr val="E4A11B"/>
          </a:solidFill>
          <a:ln>
            <a:solidFill>
              <a:srgbClr val="E4A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4. Community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KR Kakao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US Discord</a:t>
            </a:r>
            <a:endParaRPr lang="en-US"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lang="en-US" dirty="0"/>
              <a:t>JP LINE – </a:t>
            </a:r>
            <a:r>
              <a:rPr lang="ko-KR" altLang="en-US" i="1" dirty="0"/>
              <a:t>일본어 </a:t>
            </a:r>
            <a:r>
              <a:rPr lang="ko-KR" altLang="en-US" i="1" dirty="0" err="1"/>
              <a:t>능통자</a:t>
            </a:r>
            <a:r>
              <a:rPr lang="ko-KR" altLang="en-US" i="1" dirty="0"/>
              <a:t> 필요</a:t>
            </a:r>
            <a:endParaRPr lang="en-US" i="1" dirty="0"/>
          </a:p>
        </p:txBody>
      </p:sp>
      <p:sp>
        <p:nvSpPr>
          <p:cNvPr id="8" name="Rounded Rectangle 7"/>
          <p:cNvSpPr/>
          <p:nvPr/>
        </p:nvSpPr>
        <p:spPr>
          <a:xfrm>
            <a:off x="3977639" y="3657600"/>
            <a:ext cx="2743200" cy="1737360"/>
          </a:xfrm>
          <a:prstGeom prst="roundRect">
            <a:avLst/>
          </a:prstGeom>
          <a:solidFill>
            <a:srgbClr val="4B60A6"/>
          </a:solidFill>
          <a:ln>
            <a:solidFill>
              <a:srgbClr val="4B6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5. Selection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스크리닝</a:t>
            </a:r>
            <a:r>
              <a:rPr lang="en-US" dirty="0"/>
              <a:t> – </a:t>
            </a:r>
            <a:r>
              <a:rPr lang="ko-KR" altLang="en-US" dirty="0"/>
              <a:t>캐릭터 </a:t>
            </a:r>
            <a:r>
              <a:rPr lang="ko-KR" altLang="en-US" dirty="0" err="1"/>
              <a:t>챗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점수표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온보딩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15200" y="3657600"/>
            <a:ext cx="2743200" cy="1737360"/>
          </a:xfrm>
          <a:prstGeom prst="roundRect">
            <a:avLst/>
          </a:prstGeom>
          <a:solidFill>
            <a:srgbClr val="36797E"/>
          </a:solidFill>
          <a:ln>
            <a:solidFill>
              <a:srgbClr val="367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6. Measurement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D7/D30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같은 LP 재방문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인터뷰/인용문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Market and Channel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공식 알파 채널은 시장별로 하나씩 고정한다.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Market / Channel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현재 기준 공식 채널과 준비 범위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1638"/>
              </p:ext>
            </p:extLst>
          </p:nvPr>
        </p:nvGraphicFramePr>
        <p:xfrm>
          <a:off x="457200" y="137160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Market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Official Channel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Must Be Ready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Priority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Target Date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Launch Role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Notes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KR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Kakao Open Chat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Copy, invite flow, pinned rules, feedback route</a:t>
                      </a:r>
                      <a:r>
                        <a:rPr lang="en-US" sz="1400" dirty="0"/>
                        <a:t>, </a:t>
                      </a:r>
                      <a:r>
                        <a:rPr lang="ko-KR" altLang="en-US" sz="1400" dirty="0"/>
                        <a:t>기대감 고양</a:t>
                      </a:r>
                      <a:endParaRPr sz="1400" dirty="0"/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Blocker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2026-04-30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Primary market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가장 많은 집행과 운영 집중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JP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LINE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Localized copy, join flow, welcome and FAQ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Critical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2026-05-02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Secondary market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운영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세팅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우선</a:t>
                      </a:r>
                      <a:endParaRPr sz="14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US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Discord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/>
                        <a:t>Server structure, intro, permissions, feedback channel</a:t>
                      </a:r>
                      <a:r>
                        <a:rPr lang="en-US" sz="1400" dirty="0"/>
                        <a:t>, </a:t>
                      </a:r>
                      <a:r>
                        <a:rPr lang="ko-KR" altLang="en-US" sz="1400" dirty="0"/>
                        <a:t>기대감 고양</a:t>
                      </a:r>
                      <a:endParaRPr sz="1400" dirty="0"/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Critical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2026-05-02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/>
                        <a:t>Secondary market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sz="1400" dirty="0" err="1"/>
                        <a:t>영문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LP와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함께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동작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확인</a:t>
                      </a:r>
                      <a:endParaRPr sz="1400" dirty="0"/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KPI and Alpha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알파는 아래 KPI가 하나의 스토리를 만들 수 있어야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566160" cy="4297680"/>
          </a:xfrm>
          <a:prstGeom prst="roundRect">
            <a:avLst/>
          </a:prstGeom>
          <a:solidFill>
            <a:srgbClr val="162340"/>
          </a:solidFill>
          <a:ln>
            <a:solidFill>
              <a:srgbClr val="16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Tier 1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D30 retention &gt;= 35%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Same LP revisit rate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DAU / MAU &gt;= 50%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관계 형성 여부의 핵심 증거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566160" cy="4297680"/>
          </a:xfrm>
          <a:prstGeom prst="roundRect">
            <a:avLst/>
          </a:prstGeom>
          <a:solidFill>
            <a:srgbClr val="D75434"/>
          </a:solidFill>
          <a:ln>
            <a:solidFill>
              <a:srgbClr val="D7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Tier 2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Avg session &gt;= 15m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Onboarding completion &gt;= 80%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D7 retention &gt;= 50%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D30 전 선행 신호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463040"/>
            <a:ext cx="3566160" cy="4297680"/>
          </a:xfrm>
          <a:prstGeom prst="roundRect">
            <a:avLst/>
          </a:prstGeom>
          <a:solidFill>
            <a:srgbClr val="2F8049"/>
          </a:solidFill>
          <a:ln>
            <a:solidFill>
              <a:srgbClr val="2F8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Tier 3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Referral rate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Referred &gt; Direct retention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추천이 품질 필터로 작동하는지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Recommended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현재 준비량과 팀 구성을 감안한 권장안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326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4/23: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, </a:t>
            </a:r>
            <a:r>
              <a:rPr dirty="0" err="1"/>
              <a:t>성공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,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4/24-4/28: LP/</a:t>
            </a:r>
            <a:r>
              <a:rPr dirty="0" err="1"/>
              <a:t>사전등록</a:t>
            </a:r>
            <a:r>
              <a:rPr dirty="0"/>
              <a:t>/</a:t>
            </a:r>
            <a:r>
              <a:rPr dirty="0" err="1"/>
              <a:t>스크리닝</a:t>
            </a:r>
            <a:r>
              <a:rPr dirty="0"/>
              <a:t>/</a:t>
            </a:r>
            <a:r>
              <a:rPr dirty="0" err="1"/>
              <a:t>메일</a:t>
            </a:r>
            <a:r>
              <a:rPr dirty="0"/>
              <a:t>/</a:t>
            </a:r>
            <a:r>
              <a:rPr dirty="0" err="1"/>
              <a:t>기초</a:t>
            </a:r>
            <a:r>
              <a:rPr dirty="0"/>
              <a:t> KPI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4/29-4/30: </a:t>
            </a:r>
            <a:r>
              <a:rPr dirty="0" err="1"/>
              <a:t>시장별</a:t>
            </a:r>
            <a:r>
              <a:rPr dirty="0"/>
              <a:t>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 </a:t>
            </a:r>
            <a:r>
              <a:rPr dirty="0" err="1"/>
              <a:t>오픈</a:t>
            </a:r>
            <a:r>
              <a:rPr dirty="0"/>
              <a:t>, 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예열</a:t>
            </a:r>
            <a:r>
              <a:rPr dirty="0"/>
              <a:t>, </a:t>
            </a: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집행</a:t>
            </a:r>
            <a:r>
              <a:rPr dirty="0"/>
              <a:t> </a:t>
            </a:r>
            <a:r>
              <a:rPr dirty="0" err="1"/>
              <a:t>준비</a:t>
            </a:r>
            <a:r>
              <a:rPr dirty="0"/>
              <a:t> </a:t>
            </a:r>
            <a:r>
              <a:rPr dirty="0" err="1"/>
              <a:t>마감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5/01: X / Meta / Google SA </a:t>
            </a:r>
            <a:r>
              <a:rPr lang="en-US" dirty="0"/>
              <a:t>/ Reddit </a:t>
            </a:r>
            <a:r>
              <a:rPr dirty="0" err="1"/>
              <a:t>시작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5/01-5/15: </a:t>
            </a:r>
            <a:r>
              <a:rPr dirty="0" err="1"/>
              <a:t>모집</a:t>
            </a:r>
            <a:r>
              <a:rPr dirty="0"/>
              <a:t> + 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기대감</a:t>
            </a:r>
            <a:r>
              <a:rPr dirty="0"/>
              <a:t> </a:t>
            </a:r>
            <a:r>
              <a:rPr dirty="0" err="1"/>
              <a:t>고조</a:t>
            </a:r>
            <a:r>
              <a:rPr dirty="0"/>
              <a:t> +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소식</a:t>
            </a:r>
            <a:r>
              <a:rPr dirty="0"/>
              <a:t> </a:t>
            </a:r>
            <a:r>
              <a:rPr dirty="0" err="1"/>
              <a:t>운영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5/06: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마감일</a:t>
            </a:r>
            <a:r>
              <a:rPr dirty="0"/>
              <a:t>(5/08 vs 5/15)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게이트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5/12: 1차 </a:t>
            </a:r>
            <a:r>
              <a:rPr dirty="0" err="1"/>
              <a:t>선발</a:t>
            </a:r>
            <a:r>
              <a:rPr dirty="0"/>
              <a:t> 및 </a:t>
            </a:r>
            <a:r>
              <a:rPr dirty="0" err="1"/>
              <a:t>메일</a:t>
            </a:r>
            <a:r>
              <a:rPr dirty="0"/>
              <a:t> </a:t>
            </a:r>
            <a:r>
              <a:rPr dirty="0" err="1"/>
              <a:t>발송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5/14: </a:t>
            </a:r>
            <a:r>
              <a:rPr dirty="0" err="1"/>
              <a:t>런칭</a:t>
            </a:r>
            <a:r>
              <a:rPr dirty="0"/>
              <a:t> </a:t>
            </a:r>
            <a:r>
              <a:rPr dirty="0" err="1"/>
              <a:t>리허설과</a:t>
            </a:r>
            <a:r>
              <a:rPr dirty="0"/>
              <a:t> Go/No-Go </a:t>
            </a:r>
            <a:r>
              <a:rPr dirty="0" err="1"/>
              <a:t>판단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62340"/>
                </a:solidFill>
              </a:defRPr>
            </a:pPr>
            <a:r>
              <a:rPr dirty="0"/>
              <a:t>5/22: </a:t>
            </a:r>
            <a:r>
              <a:rPr dirty="0" err="1"/>
              <a:t>목요일</a:t>
            </a:r>
            <a:r>
              <a:rPr dirty="0"/>
              <a:t> </a:t>
            </a:r>
            <a:r>
              <a:rPr dirty="0" err="1"/>
              <a:t>저녁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런칭</a:t>
            </a:r>
            <a:r>
              <a:rPr dirty="0"/>
              <a:t> </a:t>
            </a:r>
            <a:r>
              <a:rPr dirty="0" err="1"/>
              <a:t>권장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Execution Table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Blocker / Critical 항목만 요약. 전체 실행표는 CSV 별첨.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656673"/>
              </p:ext>
            </p:extLst>
          </p:nvPr>
        </p:nvGraphicFramePr>
        <p:xfrm>
          <a:off x="457200" y="1371600"/>
          <a:ext cx="11247120" cy="504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Workstream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Completion</a:t>
                      </a:r>
                    </a:p>
                  </a:txBody>
                  <a:tcPr>
                    <a:solidFill>
                      <a:srgbClr val="1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Decision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Align alpha purpose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Lock alpha objective and success definition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lang="en-US" dirty="0"/>
                        <a:t>Alpha Test PO</a:t>
                      </a:r>
                      <a:endParaRPr dirty="0"/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One-page objective approved: emotional connection, voluntary return, ops readiness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Align alpha purpose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Choose baseline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lang="en-US" dirty="0"/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One schedule selected: recommended path uses 2026-05-15 recruit close and 2026-05-22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Playable LP set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Lock core LP lineup (3 LPs)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2026-04-24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Three LPs named and prioritized as A-tier 1 / B-tier 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Playable LP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Define each LP's emotional hook and differentiation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Each LP has target fantasy, conflict, and revisit reason 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Playable LP set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Reach playable quality bar for LP 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2026-05-02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LP 1 can sustain first session and revisit without major character collapse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Playable LP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Reach playable quality bar for LP 2 and LP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2026-05-06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LP 2 and LP 3 playable with acceptable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Relationship quality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Define memory/consistency pass criteria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2026-04-28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Checklist for name, relationship state, lore consistency, forbidden breaks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Relationship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Run consistency tuning for same-LP revisit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Revisit session preserves prior context in target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Return-driving content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Finalize 15-story slate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PO + AI Engine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List of 15 stories approved with LP assignment and size tier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Return-driving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Complete first 8 stories to playable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2340"/>
                          </a:solidFill>
                        </a:defRPr>
                      </a:pPr>
                      <a:r>
                        <a:rPr dirty="0"/>
                        <a:t>Eight stories pass internal QA and can cover launch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340"/>
                </a:solidFill>
              </a:rPr>
              <a:t>Immediate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지금부터 가장 먼저 체크해야 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4114800"/>
          </a:xfrm>
          <a:prstGeom prst="roundRect">
            <a:avLst/>
          </a:prstGeom>
          <a:solidFill>
            <a:srgbClr val="162340"/>
          </a:solidFill>
          <a:ln>
            <a:solidFill>
              <a:srgbClr val="16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By 2026-04-28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랜딩</a:t>
            </a:r>
            <a:r>
              <a:rPr dirty="0"/>
              <a:t> + </a:t>
            </a:r>
            <a:r>
              <a:rPr dirty="0" err="1"/>
              <a:t>사전등록</a:t>
            </a:r>
            <a:r>
              <a:rPr dirty="0"/>
              <a:t> E2E </a:t>
            </a:r>
            <a:r>
              <a:rPr dirty="0" err="1"/>
              <a:t>검증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스크리닝</a:t>
            </a:r>
            <a:r>
              <a:rPr dirty="0"/>
              <a:t> /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LP 3개, </a:t>
            </a:r>
            <a:r>
              <a:rPr dirty="0" err="1"/>
              <a:t>스토리</a:t>
            </a:r>
            <a:r>
              <a:rPr dirty="0"/>
              <a:t> 15개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기초</a:t>
            </a:r>
            <a:r>
              <a:rPr dirty="0"/>
              <a:t> KPI </a:t>
            </a:r>
            <a:r>
              <a:rPr dirty="0" err="1"/>
              <a:t>이벤트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114800"/>
          </a:xfrm>
          <a:prstGeom prst="roundRect">
            <a:avLst/>
          </a:prstGeom>
          <a:solidFill>
            <a:srgbClr val="D75434"/>
          </a:solidFill>
          <a:ln>
            <a:solidFill>
              <a:srgbClr val="D7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By 2026-05-01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마케팅</a:t>
            </a:r>
            <a:r>
              <a:rPr dirty="0"/>
              <a:t> </a:t>
            </a:r>
            <a:r>
              <a:rPr dirty="0" err="1"/>
              <a:t>시작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바이럴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 3개 </a:t>
            </a:r>
            <a:r>
              <a:rPr dirty="0" err="1"/>
              <a:t>준비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소식</a:t>
            </a:r>
            <a:r>
              <a:rPr dirty="0"/>
              <a:t> </a:t>
            </a:r>
            <a:r>
              <a:rPr dirty="0" err="1"/>
              <a:t>포맷</a:t>
            </a:r>
            <a:r>
              <a:rPr dirty="0"/>
              <a:t> </a:t>
            </a:r>
            <a:r>
              <a:rPr dirty="0" err="1"/>
              <a:t>준비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rPr dirty="0" err="1"/>
              <a:t>시장별</a:t>
            </a:r>
            <a:r>
              <a:rPr dirty="0"/>
              <a:t>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 </a:t>
            </a:r>
            <a:r>
              <a:rPr dirty="0" err="1"/>
              <a:t>가동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74720" cy="4114800"/>
          </a:xfrm>
          <a:prstGeom prst="roundRect">
            <a:avLst/>
          </a:prstGeom>
          <a:solidFill>
            <a:srgbClr val="2F8049"/>
          </a:solidFill>
          <a:ln>
            <a:solidFill>
              <a:srgbClr val="2F8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By Launch Gate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같은 LP 재방문 가능성 확인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선발/온보딩 메일 발송 체계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리허설 + 신호등 판정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주말 운영 커버리지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2822</TotalTime>
  <Words>927</Words>
  <Application>Microsoft Office PowerPoint</Application>
  <PresentationFormat>와이드스크린</PresentationFormat>
  <Paragraphs>214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WONSEOK WOO</cp:lastModifiedBy>
  <cp:revision>2</cp:revision>
  <dcterms:created xsi:type="dcterms:W3CDTF">2013-01-27T09:14:16Z</dcterms:created>
  <dcterms:modified xsi:type="dcterms:W3CDTF">2026-04-24T04:59:01Z</dcterms:modified>
  <cp:category/>
</cp:coreProperties>
</file>