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7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Lucive 알파 검증 및 운영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2026-04-23 | 준비 단계 + 4주 운영 단계 + KPI + Go/No-Go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520440" cy="164592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이번 알파의 목적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스토리 기반 LP가 감정적 연결과 자발적 복귀를 만드는지 검증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모집-선발-온보딩-커뮤니티-피드백 루프를 운영 가능한 형태로 실제로 돌려보기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20440" cy="16459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반드시 측정할 것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D7 / D30 리텐션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같은 LP 재방문율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온보딩 완료율과 세션 길이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추천 유입 품질과 FGI 증거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25880"/>
            <a:ext cx="3520440" cy="16459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운영 원칙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5월 1일 전에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알파는 4주간 운영하며 중간 체크업과 FGI를 병행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Alpha Test PO가 전체 readiness와 운영 체크 게이트 오너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권장 일정은 4/28 퍼널 검증 완료, 5/1 채널/캠페인 오픈, 5/22 알파 시작, 6/19 알파 종료다.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준비 단계 체크리스트와 운영 단계 체크리스트를 분리하지 않고 하나의 실행표에서 관리한다.</a:t>
            </a:r>
          </a:p>
          <a:p>
            <a:pPr>
              <a:spcAft>
                <a:spcPts val="800"/>
              </a:spcAft>
              <a:defRPr sz="1600">
                <a:solidFill>
                  <a:srgbClr val="182340"/>
                </a:solidFill>
              </a:defRPr>
            </a:pPr>
            <a:r>
              <a:t>이번 버전은 준비 일정뿐 아니라 4주 운영, FGI, 커뮤니티 정책, 버그/피드백 운영 시점까지 포함한다.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알파에서 검증할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각 검증 포인트는 KPI와 오너, 운영 체크 시점으로 연결되어야 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13385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검증 축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가설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성공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오너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자발적 복귀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스토리 기반 LP 경험이 푸쉬 없이도 자발적 복귀를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D7 리텐션, D30 리텐션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D7 50% 이상, D30 35% 이상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 + LUCIVE Product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관계 지속성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유저는 앱 자체가 아니라 같은 LP와의 관계를 이어가기 위해 돌아온다.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같은 LP 재방문율, 같은 LP 재방문 인터뷰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복귀 유저가 같은 LP를 분명히 선호하고 이유를 설명할 수 있음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 + LUCIVE Product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서사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3개와 스토리 15개 구조가 1~2일 단위 복귀 이유를 만든다.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유저당 복귀 세션 수, 스토리 소비 깊이, FGI 코멘트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런칭 주간 기준 최소 1주일치 복귀 동기 확보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몰입도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세계관, 이미지, 보이스가 다소 거친 알파 UX를 상쇄할 만큼 몰입을 만든다.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평균 세션 길이, 온보딩 완료율, FGI 인용문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세션 15분 이상, 온보딩 80% 이상, 몰입 관련 긍정 코멘트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 + 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커뮤니티 견인력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개발 소식과 커뮤니티 운영이 모집 전환과 기대감을 올린다.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커뮤니티 입장률, 설문 완료율, 참여자 품질 비교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5월 1일 전 채널 오픈, 모집 전환과 유지에 실제 기여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 + 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준비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5월 1일 전까지 무엇이 끝나야 하는지, 그리고 런칭 전까지 무엇이 남아 있는지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4/23-4/25: 알파 목적, 일정, 메시지 확정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4/26-4/28: LP 3개 확정, 랜딩/사전등록/설문 QA, 세계관 요약 및 스토리 구조 확정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4/29-4/30: 공식 채널 오픈, 운영 가이드, 1차 스토리라인 5개 완성, 5/1~5/7 콘텐츠 로드맵 준비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5/01: 공식 채널 + 유료 캠페인 동시 오픈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5/01-5/07: 모집 진행, 2차 스토리라인 5개 완성, 초기 퍼널 품질 모니터링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5/08-5/14: 선발, 온보딩, KPI 트래커, 버그 응대 체계, 3차 스토리라인 5개 완성, 리허설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5/14: Go / No-Go 판단</a:t>
            </a:r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t>5/22: 알파 시작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알파 4주 운영 타임라인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운영 기간에는 주차별 체크업, 커뮤니티 정책, 버그/피드백 운영, FGI 일정이 함께 돌아가야 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Week 1 (5/22-5/28): </a:t>
            </a:r>
            <a:r>
              <a:rPr dirty="0" err="1"/>
              <a:t>런칭</a:t>
            </a:r>
            <a:r>
              <a:rPr dirty="0"/>
              <a:t> </a:t>
            </a:r>
            <a:r>
              <a:rPr dirty="0" err="1"/>
              <a:t>직후</a:t>
            </a:r>
            <a:r>
              <a:rPr dirty="0"/>
              <a:t> </a:t>
            </a:r>
            <a:r>
              <a:rPr dirty="0" err="1"/>
              <a:t>일일</a:t>
            </a:r>
            <a:r>
              <a:rPr dirty="0"/>
              <a:t> </a:t>
            </a:r>
            <a:r>
              <a:rPr dirty="0" err="1"/>
              <a:t>체크업</a:t>
            </a:r>
            <a:r>
              <a:rPr dirty="0"/>
              <a:t>, </a:t>
            </a:r>
            <a:r>
              <a:rPr dirty="0" err="1"/>
              <a:t>버그</a:t>
            </a:r>
            <a:r>
              <a:rPr dirty="0"/>
              <a:t> </a:t>
            </a:r>
            <a:r>
              <a:rPr dirty="0" err="1"/>
              <a:t>접수</a:t>
            </a:r>
            <a:r>
              <a:rPr dirty="0"/>
              <a:t>/</a:t>
            </a:r>
            <a:r>
              <a:rPr dirty="0" err="1"/>
              <a:t>응대</a:t>
            </a:r>
            <a:r>
              <a:rPr dirty="0"/>
              <a:t> </a:t>
            </a:r>
            <a:r>
              <a:rPr dirty="0" err="1"/>
              <a:t>안정화</a:t>
            </a:r>
            <a:r>
              <a:rPr dirty="0"/>
              <a:t>, 1차 FGI </a:t>
            </a:r>
            <a:r>
              <a:rPr dirty="0" err="1"/>
              <a:t>대상</a:t>
            </a:r>
            <a:r>
              <a:rPr dirty="0"/>
              <a:t> </a:t>
            </a:r>
            <a:r>
              <a:rPr dirty="0" err="1"/>
              <a:t>확정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Week 2 (5/29-6/04): D7 </a:t>
            </a:r>
            <a:r>
              <a:rPr dirty="0" err="1"/>
              <a:t>초기</a:t>
            </a:r>
            <a:r>
              <a:rPr dirty="0"/>
              <a:t> </a:t>
            </a:r>
            <a:r>
              <a:rPr dirty="0" err="1"/>
              <a:t>지표</a:t>
            </a:r>
            <a:r>
              <a:rPr dirty="0"/>
              <a:t> </a:t>
            </a:r>
            <a:r>
              <a:rPr dirty="0" err="1"/>
              <a:t>리뷰</a:t>
            </a:r>
            <a:r>
              <a:rPr dirty="0"/>
              <a:t>, </a:t>
            </a:r>
            <a:r>
              <a:rPr dirty="0" err="1"/>
              <a:t>알려진</a:t>
            </a:r>
            <a:r>
              <a:rPr dirty="0"/>
              <a:t> </a:t>
            </a:r>
            <a:r>
              <a:rPr dirty="0" err="1"/>
              <a:t>이슈</a:t>
            </a:r>
            <a:r>
              <a:rPr dirty="0"/>
              <a:t> </a:t>
            </a:r>
            <a:r>
              <a:rPr dirty="0" err="1"/>
              <a:t>보드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, 1차/2차 FGI </a:t>
            </a:r>
            <a:r>
              <a:rPr dirty="0" err="1"/>
              <a:t>진행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Week 3 (6/05-6/11): </a:t>
            </a:r>
            <a:r>
              <a:rPr dirty="0" err="1"/>
              <a:t>리텐션</a:t>
            </a:r>
            <a:r>
              <a:rPr dirty="0"/>
              <a:t>/</a:t>
            </a: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분위기</a:t>
            </a:r>
            <a:r>
              <a:rPr dirty="0"/>
              <a:t>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리뷰</a:t>
            </a:r>
            <a:r>
              <a:rPr dirty="0"/>
              <a:t>, </a:t>
            </a:r>
            <a:r>
              <a:rPr dirty="0" err="1"/>
              <a:t>버그</a:t>
            </a:r>
            <a:r>
              <a:rPr dirty="0"/>
              <a:t>/</a:t>
            </a:r>
            <a:r>
              <a:rPr dirty="0" err="1"/>
              <a:t>피드백</a:t>
            </a:r>
            <a:r>
              <a:rPr dirty="0"/>
              <a:t> triage </a:t>
            </a:r>
            <a:r>
              <a:rPr dirty="0" err="1"/>
              <a:t>재정렬</a:t>
            </a:r>
            <a:r>
              <a:rPr dirty="0"/>
              <a:t>,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정책</a:t>
            </a:r>
            <a:r>
              <a:rPr dirty="0"/>
              <a:t> </a:t>
            </a:r>
            <a:r>
              <a:rPr dirty="0" err="1"/>
              <a:t>업데이트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Week 4 (6/12-6/19): </a:t>
            </a:r>
            <a:r>
              <a:rPr dirty="0" err="1"/>
              <a:t>종료</a:t>
            </a:r>
            <a:r>
              <a:rPr dirty="0"/>
              <a:t> </a:t>
            </a:r>
            <a:r>
              <a:rPr dirty="0" err="1"/>
              <a:t>커뮤니케이션</a:t>
            </a:r>
            <a:r>
              <a:rPr dirty="0"/>
              <a:t> </a:t>
            </a:r>
            <a:r>
              <a:rPr dirty="0" err="1"/>
              <a:t>준비</a:t>
            </a:r>
            <a:r>
              <a:rPr dirty="0"/>
              <a:t>, </a:t>
            </a:r>
            <a:r>
              <a:rPr dirty="0" err="1"/>
              <a:t>보강</a:t>
            </a:r>
            <a:r>
              <a:rPr dirty="0"/>
              <a:t> </a:t>
            </a:r>
            <a:r>
              <a:rPr dirty="0" err="1"/>
              <a:t>인터뷰</a:t>
            </a:r>
            <a:r>
              <a:rPr dirty="0"/>
              <a:t>, </a:t>
            </a:r>
            <a:r>
              <a:rPr dirty="0" err="1"/>
              <a:t>최종</a:t>
            </a:r>
            <a:r>
              <a:rPr dirty="0"/>
              <a:t> KPI/FGI </a:t>
            </a:r>
            <a:r>
              <a:rPr dirty="0" err="1"/>
              <a:t>종합</a:t>
            </a:r>
            <a:r>
              <a:rPr dirty="0"/>
              <a:t>, </a:t>
            </a:r>
            <a:r>
              <a:rPr dirty="0" err="1"/>
              <a:t>종료</a:t>
            </a:r>
            <a:r>
              <a:rPr dirty="0"/>
              <a:t> </a:t>
            </a:r>
            <a:r>
              <a:rPr dirty="0" err="1"/>
              <a:t>공지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82340"/>
                </a:solidFill>
              </a:defRPr>
            </a:pPr>
            <a:r>
              <a:rPr dirty="0"/>
              <a:t>D+1, W1 </a:t>
            </a:r>
            <a:r>
              <a:rPr dirty="0" err="1"/>
              <a:t>중간</a:t>
            </a:r>
            <a:r>
              <a:rPr dirty="0"/>
              <a:t>, W2 </a:t>
            </a:r>
            <a:r>
              <a:rPr dirty="0" err="1"/>
              <a:t>중간</a:t>
            </a:r>
            <a:r>
              <a:rPr dirty="0"/>
              <a:t>, W3 </a:t>
            </a:r>
            <a:r>
              <a:rPr dirty="0" err="1"/>
              <a:t>중간</a:t>
            </a:r>
            <a:r>
              <a:rPr dirty="0"/>
              <a:t>, W4 </a:t>
            </a:r>
            <a:r>
              <a:rPr dirty="0" err="1"/>
              <a:t>종료</a:t>
            </a:r>
            <a:r>
              <a:rPr dirty="0"/>
              <a:t> </a:t>
            </a:r>
            <a:r>
              <a:rPr dirty="0" err="1"/>
              <a:t>직전이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체크</a:t>
            </a:r>
            <a:r>
              <a:rPr dirty="0"/>
              <a:t> </a:t>
            </a:r>
            <a:r>
              <a:rPr dirty="0" err="1"/>
              <a:t>포인트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운영 중 꼭 챙길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커뮤니티, 버그, 피드백, FGI는 일정과 함께 정책도 미리 준비돼 있어야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743200" cy="4480560"/>
          </a:xfrm>
          <a:prstGeom prst="roundRect">
            <a:avLst/>
          </a:prstGeom>
          <a:solidFill>
            <a:srgbClr val="3760B2"/>
          </a:solidFill>
          <a:ln>
            <a:solidFill>
              <a:srgbClr val="376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커뮤니티 운영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첫 4주 콘텐츠 정책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주간 공지 / 개발 로그 / 기대치 관리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알파 종료 커뮤니케이션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371600"/>
            <a:ext cx="2743200" cy="448056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버그 / 피드백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접수 채널 단일화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심각도, 상태, 공지 방식 표준화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피드백 triage 재정렬 주간 운영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2468880" cy="448056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FGI / 리서치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1차/2차 FGI 일정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대상군 관리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인용문 정리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371600"/>
            <a:ext cx="2286000" cy="4480560"/>
          </a:xfrm>
          <a:prstGeom prst="roundRect">
            <a:avLst/>
          </a:prstGeom>
          <a:solidFill>
            <a:srgbClr val="BF3C31"/>
          </a:solidFill>
          <a:ln>
            <a:solidFill>
              <a:srgbClr val="BF3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체크업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D+1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W1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W2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W3 중간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W4 최종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상위 체크리스트 스냅샷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준비 단계와 운영 단계를 하나의 관리표로 합쳤다.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735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영역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중요도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담당팀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기한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체크 시점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알파 목적과 성공 정의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4/23 킥오프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5월 1일 채널 오픈 / 캠페인 시작 기준 일정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4/23 킥오프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핵심 LP 3개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LP별 감정 훅과 차별 포인트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스토리 15개 목록과 구조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1차 스토리라인 5개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 직전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2차 스토리라인 5개 추가 완성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W1 리뷰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3차 스토리라인 5개 추가 완성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런칭 직전 Go/No-Go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세계관 요약본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채팅용 이미지 최소 세트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보이스 샘플 최소 세트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2026-05-07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W1 리뷰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콘텐츠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일자별 커뮤니티 공개용 스포일러 안전 문구 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AI Engine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알파 핵심 캠페인 메시지 확정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2026-04-25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4/25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바이럴 가능 자산 3종 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Growth Marketing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5/01 채널/캠페인 오픈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랜딩 및 사전등록 E2E 검증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LUCIVE Product Team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36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준비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마케팅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설문 응답 저장과 스크리닝 동선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Alpha Test 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2026-04-28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4/28 준비 체크업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Go / No-Go 디시전 포인트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제품, 퍼널, 커뮤니티, 측정, 운영 중 하나라도 Blocker가 비면 런칭하면 안 된다.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디시전 포인트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No-Go 기준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사유</a:t>
                      </a:r>
                    </a:p>
                  </a:txBody>
                  <a:tcPr>
                    <a:solidFill>
                      <a:srgbClr val="18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 최소 사용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3개 플레이 가능, 진행 불가 버그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LP 하나 이상 unusable 또는 치명 버그 지속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제품 자체가 안 돌면 알파의 의미가 없음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복귀를 만들 콘텐츠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플레이 가능한 스토리 10개 이상, 15개 구조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복귀 이유가 너무 얕아 가설 검증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이번 알파는 서사 견인력 검증이 핵심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캠페인 전 채널 오픈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KR/JP/US 공식 채널 오픈 + 첫 주 게시물 준비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유료 유입이 빈 채널로 떨어짐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기대감은 캠페인 전에 쌓아야 함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모집 퍼널 정상 동작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랜딩 -&gt; 등록 -&gt; 설문 -&gt; 로스터 저장이 한 바퀴 돈다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중간 어디선가 끊기거나 데이터가 유실됨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모집은 되는데 선발 운영이 안 되는 상황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764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핵심 KPI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D7, 같은 LP 재방문, 온보딩, 세션 길이 측정 가능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런칭 후에도 핵심 지표를 못 봄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검증형 알파 목적 상실</a:t>
                      </a:r>
                    </a:p>
                  </a:txBody>
                  <a:tcPr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650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첫 72시간 + 4주 운영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일일 체크업, 버그/피드백 정책, FGI 일정 존재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첫 주말 오너 없음, 운영 정책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82340"/>
                          </a:solidFill>
                        </a:defRPr>
                      </a:pPr>
                      <a:r>
                        <a:t>초기 신뢰 붕괴와 중간 판단 실패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340"/>
                </a:solidFill>
              </a:rPr>
              <a:t>이번 주 바로 볼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6C84"/>
                </a:solidFill>
              </a:rPr>
              <a:t>준비 단계 마감과 운영 단계 설계를 동시에 당겨서 봐야 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520440" cy="4389120"/>
          </a:xfrm>
          <a:prstGeom prst="roundRect">
            <a:avLst/>
          </a:prstGeom>
          <a:solidFill>
            <a:srgbClr val="182340"/>
          </a:solidFill>
          <a:ln>
            <a:solidFill>
              <a:srgbClr val="18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4/28까지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LP 3개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랜딩/사전등록/설문 QA 완료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세계관 요약과 스토리 15개 구조 확정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520440" cy="4389120"/>
          </a:xfrm>
          <a:prstGeom prst="roundRect">
            <a:avLst/>
          </a:prstGeom>
          <a:solidFill>
            <a:srgbClr val="D65436"/>
          </a:solidFill>
          <a:ln>
            <a:solidFill>
              <a:srgbClr val="D65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5/1까지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1차 스토리라인 5개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KR/JP/US 공식 채널 오픈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5/1~5/7 커뮤니티 콘텐츠 로드맵 게시 가능 상태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520440" cy="4389120"/>
          </a:xfrm>
          <a:prstGeom prst="roundRect">
            <a:avLst/>
          </a:prstGeom>
          <a:solidFill>
            <a:srgbClr val="328053"/>
          </a:solidFill>
          <a:ln>
            <a:solidFill>
              <a:srgbClr val="3280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런칭 전까지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2차/3차 스토리라인 완성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버그/피드백 운영 정책 확정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4주 운영 체크업 / FGI 일정표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1283</Words>
  <Application>Microsoft Office PowerPoint</Application>
  <PresentationFormat>와이드스크린</PresentationFormat>
  <Paragraphs>251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WONSEOK WOO</cp:lastModifiedBy>
  <cp:revision>2</cp:revision>
  <dcterms:created xsi:type="dcterms:W3CDTF">2013-01-27T09:14:16Z</dcterms:created>
  <dcterms:modified xsi:type="dcterms:W3CDTF">2026-04-24T04:58:56Z</dcterms:modified>
  <cp:category/>
</cp:coreProperties>
</file>