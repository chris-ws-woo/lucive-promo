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280" y="6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Lucive 알파 검증 및 운영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2026-04-23 | 준비 단계 + 4주 운영 단계 + KPI + Go/No-Go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1645920"/>
          </a:xfrm>
          <a:prstGeom prst="roundRect">
            <a:avLst/>
          </a:prstGeom>
          <a:solidFill>
            <a:srgbClr val="3760B2"/>
          </a:solidFill>
          <a:ln>
            <a:solidFill>
              <a:srgbClr val="376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이번 알파의 목적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스토리 기반 LP가 감정적 연결과 자발적 복귀를 만드는지 검증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모집-선발-온보딩-커뮤니티-피드백 루프를 운영 가능한 형태로 실제로 돌려보기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520440" cy="164592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반드시 측정할 것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D7 / D30 리텐션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같은 LP 재방문율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온보딩 완료율과 세션 길이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추천 유입 품질과 FGI 증거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25880"/>
            <a:ext cx="3520440" cy="164592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운영 원칙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5월 1일 전에 공식 채널 오픈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알파는 4주간 운영하며 중간 체크업과 FGI를 병행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Alpha Test PO가 전체 readiness와 운영 체크 게이트 오너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권장 일정은 4/28 퍼널 검증 완료, 5/1 채널/캠페인 오픈, 5/22 알파 시작, 6/19 알파 종료다.</a:t>
            </a:r>
          </a:p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준비 단계 체크리스트와 운영 단계 체크리스트를 분리하지 않고 하나의 실행표에서 관리한다.</a:t>
            </a:r>
          </a:p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이번 버전은 준비 일정뿐 아니라 4주 운영, FGI, 커뮤니티 정책, 버그/피드백 운영 시점까지 포함한다.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이번 알파에서 검증할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각 검증 포인트는 KPI와 오너, 운영 체크 시점으로 연결되어야 한다.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702158"/>
              </p:ext>
            </p:extLst>
          </p:nvPr>
        </p:nvGraphicFramePr>
        <p:xfrm>
          <a:off x="411480" y="1325880"/>
          <a:ext cx="11338560" cy="5158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 err="1"/>
                        <a:t>검증</a:t>
                      </a:r>
                      <a:r>
                        <a:rPr sz="1100" dirty="0"/>
                        <a:t> 축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 err="1"/>
                        <a:t>가설</a:t>
                      </a:r>
                      <a:endParaRPr sz="1100" dirty="0"/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KPI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성공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 err="1"/>
                        <a:t>오너</a:t>
                      </a:r>
                      <a:endParaRPr sz="11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 err="1"/>
                        <a:t>자발적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복귀</a:t>
                      </a:r>
                      <a:endParaRPr sz="105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 err="1"/>
                        <a:t>스토리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기반</a:t>
                      </a:r>
                      <a:r>
                        <a:rPr sz="1050" dirty="0"/>
                        <a:t> LP </a:t>
                      </a:r>
                      <a:r>
                        <a:rPr sz="1050" dirty="0" err="1"/>
                        <a:t>경험이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푸쉬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없이도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자발적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복귀를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만든다</a:t>
                      </a:r>
                      <a:r>
                        <a:rPr sz="1050" dirty="0"/>
                        <a:t>.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/>
                        <a:t>D7 </a:t>
                      </a:r>
                      <a:r>
                        <a:rPr sz="1050" dirty="0" err="1"/>
                        <a:t>리텐션</a:t>
                      </a:r>
                      <a:r>
                        <a:rPr sz="1050" dirty="0"/>
                        <a:t>, D30 </a:t>
                      </a:r>
                      <a:r>
                        <a:rPr sz="1050" dirty="0" err="1"/>
                        <a:t>리텐션</a:t>
                      </a:r>
                      <a:endParaRPr sz="105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/>
                        <a:t>D7 50% </a:t>
                      </a:r>
                      <a:r>
                        <a:rPr sz="1050" dirty="0" err="1"/>
                        <a:t>이상</a:t>
                      </a:r>
                      <a:r>
                        <a:rPr sz="1050" dirty="0"/>
                        <a:t>, D30 35% </a:t>
                      </a:r>
                      <a:r>
                        <a:rPr sz="1050" dirty="0" err="1"/>
                        <a:t>이상</a:t>
                      </a:r>
                      <a:endParaRPr sz="105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lang="en-US" sz="1050" dirty="0"/>
                        <a:t>AI Engine Team</a:t>
                      </a:r>
                    </a:p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endParaRPr sz="105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관계 지속성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 err="1"/>
                        <a:t>유저는</a:t>
                      </a:r>
                      <a:r>
                        <a:rPr sz="1050" dirty="0"/>
                        <a:t> 앱 </a:t>
                      </a:r>
                      <a:r>
                        <a:rPr sz="1050" dirty="0" err="1"/>
                        <a:t>자체가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아니라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같은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LP와의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관계를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이어가기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위해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돌아온다</a:t>
                      </a:r>
                      <a:r>
                        <a:rPr sz="1050" dirty="0"/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 err="1"/>
                        <a:t>같은</a:t>
                      </a:r>
                      <a:r>
                        <a:rPr sz="1050" dirty="0"/>
                        <a:t> LP </a:t>
                      </a:r>
                      <a:r>
                        <a:rPr sz="1050" dirty="0" err="1"/>
                        <a:t>재방문율</a:t>
                      </a:r>
                      <a:r>
                        <a:rPr sz="1050" dirty="0"/>
                        <a:t>, </a:t>
                      </a:r>
                      <a:r>
                        <a:rPr sz="1050" dirty="0" err="1"/>
                        <a:t>같은</a:t>
                      </a:r>
                      <a:r>
                        <a:rPr sz="1050" dirty="0"/>
                        <a:t> LP </a:t>
                      </a:r>
                      <a:r>
                        <a:rPr sz="1050" dirty="0" err="1"/>
                        <a:t>재방문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인터뷰</a:t>
                      </a:r>
                      <a:endParaRPr lang="en-US" sz="1050" dirty="0"/>
                    </a:p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endParaRPr lang="en-US" sz="1050" dirty="0"/>
                    </a:p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lang="en-US" altLang="ko-KR" sz="1050" b="1" dirty="0"/>
                        <a:t>(</a:t>
                      </a:r>
                      <a:r>
                        <a:rPr lang="ko-KR" altLang="en-US" sz="1050" b="1" dirty="0"/>
                        <a:t>캐릭터와의 친밀도</a:t>
                      </a:r>
                      <a:r>
                        <a:rPr lang="en-US" altLang="ko-KR" sz="1050" b="1" dirty="0"/>
                        <a:t>)</a:t>
                      </a:r>
                      <a:endParaRPr sz="1050" b="1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 err="1"/>
                        <a:t>복귀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유저가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같은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LP를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분명히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선호하고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이유를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설명할</a:t>
                      </a:r>
                      <a:r>
                        <a:rPr sz="1050" dirty="0"/>
                        <a:t> 수 </a:t>
                      </a:r>
                      <a:r>
                        <a:rPr sz="1050" dirty="0" err="1"/>
                        <a:t>있음</a:t>
                      </a:r>
                      <a:endParaRPr sz="105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lang="en-US" sz="1050" dirty="0"/>
                        <a:t>AI Engine Team</a:t>
                      </a:r>
                    </a:p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endParaRPr sz="105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서사 견인력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LP 3개와 스토리 15개 구조가 1~2일 단위 복귀 이유를 만든다.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 err="1"/>
                        <a:t>유저당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복귀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세션</a:t>
                      </a:r>
                      <a:r>
                        <a:rPr sz="1050" dirty="0"/>
                        <a:t> 수, </a:t>
                      </a:r>
                      <a:r>
                        <a:rPr sz="1050" dirty="0" err="1"/>
                        <a:t>스토리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소비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깊이</a:t>
                      </a:r>
                      <a:r>
                        <a:rPr sz="1050" dirty="0"/>
                        <a:t>, FGI </a:t>
                      </a:r>
                      <a:r>
                        <a:rPr sz="1050" dirty="0" err="1"/>
                        <a:t>코멘트</a:t>
                      </a:r>
                      <a:r>
                        <a:rPr lang="en-US" sz="1050" dirty="0"/>
                        <a:t>, </a:t>
                      </a:r>
                      <a:r>
                        <a:rPr lang="ko-KR" altLang="en-US" sz="1050" dirty="0"/>
                        <a:t>리플레이를 하느냐</a:t>
                      </a:r>
                      <a:r>
                        <a:rPr lang="en-US" altLang="ko-KR" sz="1050" dirty="0"/>
                        <a:t>? </a:t>
                      </a:r>
                      <a:r>
                        <a:rPr lang="ko-KR" altLang="en-US" sz="1050" dirty="0" err="1"/>
                        <a:t>별점</a:t>
                      </a:r>
                      <a:r>
                        <a:rPr lang="en-US" altLang="ko-KR" sz="1050" dirty="0"/>
                        <a:t>?</a:t>
                      </a:r>
                      <a:endParaRPr lang="en-US" sz="1050" dirty="0"/>
                    </a:p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endParaRPr lang="en-US" sz="1050" dirty="0"/>
                    </a:p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lang="en-US" altLang="ko-KR" sz="1050" b="1" dirty="0"/>
                        <a:t>(</a:t>
                      </a:r>
                      <a:r>
                        <a:rPr lang="ko-KR" altLang="en-US" sz="1050" b="1" dirty="0"/>
                        <a:t>평균 세션 타임</a:t>
                      </a:r>
                      <a:r>
                        <a:rPr lang="en-US" altLang="ko-KR" sz="1050" b="1" dirty="0"/>
                        <a:t>)</a:t>
                      </a:r>
                      <a:endParaRPr sz="1050" b="1" dirty="0"/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 err="1"/>
                        <a:t>런칭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주간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기준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최소</a:t>
                      </a:r>
                      <a:r>
                        <a:rPr sz="1050" dirty="0"/>
                        <a:t> 1주일치 </a:t>
                      </a:r>
                      <a:r>
                        <a:rPr sz="1050" dirty="0" err="1"/>
                        <a:t>복귀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동기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확보</a:t>
                      </a:r>
                      <a:endParaRPr sz="1050" dirty="0"/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/>
                        <a:t>AI Engine Team</a:t>
                      </a:r>
                      <a:endParaRPr lang="en-US" sz="1050" dirty="0"/>
                    </a:p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endParaRPr sz="105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몰입도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세계관, 이미지, 보이스가 다소 거친 알파 UX를 상쇄할 만큼 몰입을 만든다.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 err="1"/>
                        <a:t>평균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세션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길이</a:t>
                      </a:r>
                      <a:r>
                        <a:rPr sz="1050" dirty="0"/>
                        <a:t>, </a:t>
                      </a:r>
                      <a:r>
                        <a:rPr sz="1050" dirty="0" err="1"/>
                        <a:t>온보딩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완료율</a:t>
                      </a:r>
                      <a:r>
                        <a:rPr sz="1050" dirty="0"/>
                        <a:t>, FGI </a:t>
                      </a:r>
                      <a:r>
                        <a:rPr sz="1050" dirty="0" err="1"/>
                        <a:t>인용문</a:t>
                      </a:r>
                      <a:endParaRPr lang="en-US" sz="1050" dirty="0"/>
                    </a:p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endParaRPr lang="en-US" sz="1050" dirty="0"/>
                    </a:p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lang="en-US" altLang="ko-KR" sz="1050" b="1" dirty="0"/>
                        <a:t>(</a:t>
                      </a:r>
                      <a:r>
                        <a:rPr lang="ko-KR" altLang="en-US" sz="1050" b="1" dirty="0" err="1"/>
                        <a:t>리텐션</a:t>
                      </a:r>
                      <a:r>
                        <a:rPr lang="en-US" altLang="ko-KR" sz="1050" b="1" dirty="0"/>
                        <a:t>)</a:t>
                      </a:r>
                      <a:endParaRPr sz="1050" b="1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세션 15분 이상, 온보딩 80% 이상, 몰입 관련 긍정 코멘트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lang="en-US" sz="1050" dirty="0"/>
                        <a:t>Product Team</a:t>
                      </a:r>
                      <a:endParaRPr sz="105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커뮤니티 견인력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개발 소식과 커뮤니티 운영이 모집 전환과 기대감을 올린다.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 err="1"/>
                        <a:t>커뮤니티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입장률</a:t>
                      </a:r>
                      <a:r>
                        <a:rPr sz="1050" dirty="0"/>
                        <a:t>, </a:t>
                      </a:r>
                      <a:r>
                        <a:rPr sz="1050" dirty="0" err="1"/>
                        <a:t>설문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완료율</a:t>
                      </a:r>
                      <a:r>
                        <a:rPr sz="1050" dirty="0"/>
                        <a:t>, </a:t>
                      </a:r>
                      <a:r>
                        <a:rPr sz="1050" dirty="0" err="1"/>
                        <a:t>참여자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품질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비교</a:t>
                      </a:r>
                      <a:endParaRPr sz="1050" dirty="0"/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5월 1일 전 채널 오픈, 모집 전환과 유지에 실제 기여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/>
                        <a:t>Growth Marketing Team</a:t>
                      </a: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준비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5월 1일 전까지 무엇이 끝나야 하는지, 그리고 런칭 전까지 무엇이 남아 있는지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972800" cy="352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lang="en-US" altLang="ko-KR" dirty="0"/>
              <a:t>4/23-4/25: </a:t>
            </a:r>
            <a:r>
              <a:rPr lang="ko-KR" altLang="en-US" dirty="0"/>
              <a:t>알파 목적</a:t>
            </a:r>
            <a:r>
              <a:rPr lang="en-US" altLang="ko-KR" dirty="0"/>
              <a:t>, </a:t>
            </a:r>
            <a:r>
              <a:rPr lang="ko-KR" altLang="en-US" dirty="0"/>
              <a:t>일정</a:t>
            </a:r>
            <a:r>
              <a:rPr lang="en-US" altLang="ko-KR" dirty="0"/>
              <a:t>, </a:t>
            </a:r>
            <a:r>
              <a:rPr lang="ko-KR" altLang="en-US" dirty="0"/>
              <a:t>캠페인 메시지 확정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lang="en-US" altLang="ko-KR" dirty="0"/>
              <a:t>4/26-4/28: LP 3</a:t>
            </a:r>
            <a:r>
              <a:rPr lang="ko-KR" altLang="en-US" dirty="0"/>
              <a:t>개 확정</a:t>
            </a:r>
            <a:r>
              <a:rPr lang="en-US" altLang="ko-KR" dirty="0"/>
              <a:t>, </a:t>
            </a:r>
            <a:r>
              <a:rPr lang="ko-KR" altLang="en-US" dirty="0"/>
              <a:t>세계관 요약</a:t>
            </a:r>
            <a:r>
              <a:rPr lang="en-US" altLang="ko-KR" dirty="0"/>
              <a:t>, </a:t>
            </a:r>
            <a:r>
              <a:rPr lang="ko-KR" altLang="en-US" dirty="0"/>
              <a:t>랜딩 </a:t>
            </a:r>
            <a:r>
              <a:rPr lang="en-US" altLang="ko-KR" dirty="0"/>
              <a:t>QA, </a:t>
            </a:r>
            <a:r>
              <a:rPr lang="ko-KR" altLang="en-US" dirty="0"/>
              <a:t>사전등록 </a:t>
            </a:r>
            <a:r>
              <a:rPr lang="en-US" altLang="ko-KR" dirty="0"/>
              <a:t>QA, </a:t>
            </a:r>
            <a:r>
              <a:rPr lang="ko-KR" altLang="en-US" dirty="0"/>
              <a:t>설문 </a:t>
            </a:r>
            <a:r>
              <a:rPr lang="en-US" altLang="ko-KR" dirty="0"/>
              <a:t>QA, </a:t>
            </a:r>
            <a:r>
              <a:rPr lang="ko-KR" altLang="en-US" dirty="0" err="1"/>
              <a:t>온보딩</a:t>
            </a:r>
            <a:r>
              <a:rPr lang="ko-KR" altLang="en-US" dirty="0"/>
              <a:t> 측정 구조 정리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lang="en-US" altLang="ko-KR" dirty="0"/>
              <a:t>4/29-4/30: KR/JP/US </a:t>
            </a:r>
            <a:r>
              <a:rPr lang="ko-KR" altLang="en-US" dirty="0"/>
              <a:t>공식 채널 오픈</a:t>
            </a:r>
            <a:r>
              <a:rPr lang="en-US" altLang="ko-KR" dirty="0"/>
              <a:t>, </a:t>
            </a:r>
            <a:r>
              <a:rPr lang="ko-KR" altLang="en-US" dirty="0"/>
              <a:t>커뮤니티 운영 가이드 확정</a:t>
            </a:r>
            <a:r>
              <a:rPr lang="en-US" altLang="ko-KR" dirty="0"/>
              <a:t>, 1</a:t>
            </a:r>
            <a:r>
              <a:rPr lang="ko-KR" altLang="en-US" dirty="0"/>
              <a:t>차 스토리라인 </a:t>
            </a:r>
            <a:r>
              <a:rPr lang="en-US" altLang="ko-KR" dirty="0"/>
              <a:t>5</a:t>
            </a:r>
            <a:r>
              <a:rPr lang="ko-KR" altLang="en-US" dirty="0"/>
              <a:t>개 완성</a:t>
            </a:r>
            <a:r>
              <a:rPr lang="en-US" altLang="ko-KR" dirty="0"/>
              <a:t>, 5/1~5/7 </a:t>
            </a:r>
            <a:r>
              <a:rPr lang="ko-KR" altLang="en-US" dirty="0"/>
              <a:t>콘텐츠 로드맵 준비</a:t>
            </a:r>
            <a:r>
              <a:rPr lang="en-US" altLang="ko-KR" dirty="0"/>
              <a:t>, </a:t>
            </a:r>
            <a:r>
              <a:rPr lang="ko-KR" altLang="en-US" dirty="0"/>
              <a:t>공식사이트 </a:t>
            </a:r>
            <a:r>
              <a:rPr lang="en-US" altLang="ko-KR" dirty="0"/>
              <a:t>Integration </a:t>
            </a:r>
            <a:r>
              <a:rPr lang="ko-KR" altLang="en-US" dirty="0"/>
              <a:t>최종</a:t>
            </a:r>
            <a:r>
              <a:rPr lang="en-US" altLang="ko-KR" dirty="0"/>
              <a:t> </a:t>
            </a:r>
            <a:r>
              <a:rPr lang="ko-KR" altLang="en-US" dirty="0"/>
              <a:t>체크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lang="en-US" altLang="ko-KR" dirty="0"/>
              <a:t>5/01: </a:t>
            </a:r>
            <a:r>
              <a:rPr lang="ko-KR" altLang="en-US" dirty="0"/>
              <a:t>공식 채널</a:t>
            </a:r>
            <a:r>
              <a:rPr lang="en-US" altLang="ko-KR" dirty="0"/>
              <a:t>(</a:t>
            </a:r>
            <a:r>
              <a:rPr lang="ko-KR" altLang="en-US" dirty="0"/>
              <a:t>커뮤니티</a:t>
            </a:r>
            <a:r>
              <a:rPr lang="en-US" altLang="ko-KR" dirty="0"/>
              <a:t>, </a:t>
            </a:r>
            <a:r>
              <a:rPr lang="ko-KR" altLang="en-US" dirty="0"/>
              <a:t>공식계정 </a:t>
            </a:r>
            <a:r>
              <a:rPr lang="en-US" altLang="ko-KR" dirty="0"/>
              <a:t>– X, </a:t>
            </a:r>
            <a:r>
              <a:rPr lang="en-US" altLang="ko-KR" dirty="0" err="1"/>
              <a:t>Tiktok</a:t>
            </a:r>
            <a:r>
              <a:rPr lang="en-US" altLang="ko-KR" dirty="0"/>
              <a:t>, Insta)</a:t>
            </a:r>
            <a:r>
              <a:rPr lang="ko-KR" altLang="en-US" dirty="0"/>
              <a:t>과 유료 캠페인 동시 오픈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lang="en-US" altLang="ko-KR" dirty="0"/>
              <a:t>5/01-5/07: </a:t>
            </a:r>
            <a:r>
              <a:rPr lang="ko-KR" altLang="en-US" dirty="0"/>
              <a:t>모집 진행</a:t>
            </a:r>
            <a:r>
              <a:rPr lang="en-US" altLang="ko-KR" dirty="0"/>
              <a:t>, </a:t>
            </a:r>
            <a:r>
              <a:rPr lang="ko-KR" altLang="en-US" dirty="0"/>
              <a:t>일자별 개발</a:t>
            </a:r>
            <a:r>
              <a:rPr lang="en-US" altLang="ko-KR" dirty="0"/>
              <a:t>/</a:t>
            </a:r>
            <a:r>
              <a:rPr lang="ko-KR" altLang="en-US" dirty="0"/>
              <a:t>커뮤니티 스토리라인 운영</a:t>
            </a:r>
            <a:r>
              <a:rPr lang="en-US" altLang="ko-KR" dirty="0"/>
              <a:t>, 2</a:t>
            </a:r>
            <a:r>
              <a:rPr lang="ko-KR" altLang="en-US" dirty="0"/>
              <a:t>차 스토리라인 </a:t>
            </a:r>
            <a:r>
              <a:rPr lang="en-US" altLang="ko-KR" dirty="0"/>
              <a:t>5</a:t>
            </a:r>
            <a:r>
              <a:rPr lang="ko-KR" altLang="en-US" dirty="0"/>
              <a:t>개 완성</a:t>
            </a:r>
            <a:r>
              <a:rPr lang="en-US" altLang="ko-KR" dirty="0"/>
              <a:t>, </a:t>
            </a:r>
            <a:r>
              <a:rPr lang="ko-KR" altLang="en-US" dirty="0" err="1"/>
              <a:t>퍼널</a:t>
            </a:r>
            <a:r>
              <a:rPr lang="ko-KR" altLang="en-US" dirty="0"/>
              <a:t> 품질 모니터링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lang="en-US" altLang="ko-KR" dirty="0"/>
              <a:t>5/06: </a:t>
            </a:r>
            <a:r>
              <a:rPr lang="ko-KR" altLang="en-US" dirty="0"/>
              <a:t>모집 마감일을 </a:t>
            </a:r>
            <a:r>
              <a:rPr lang="en-US" altLang="ko-KR" dirty="0"/>
              <a:t>5/8</a:t>
            </a:r>
            <a:r>
              <a:rPr lang="ko-KR" altLang="en-US" dirty="0"/>
              <a:t>로 갈지 </a:t>
            </a:r>
            <a:r>
              <a:rPr lang="en-US" altLang="ko-KR" dirty="0"/>
              <a:t>5/15</a:t>
            </a:r>
            <a:r>
              <a:rPr lang="ko-KR" altLang="en-US" dirty="0"/>
              <a:t>로 늘릴지 결정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lang="en-US" altLang="ko-KR" dirty="0"/>
              <a:t>5/08-5/12: </a:t>
            </a:r>
            <a:r>
              <a:rPr lang="ko-KR" altLang="en-US" dirty="0"/>
              <a:t>선발</a:t>
            </a:r>
            <a:r>
              <a:rPr lang="en-US" altLang="ko-KR" dirty="0"/>
              <a:t>, </a:t>
            </a:r>
            <a:r>
              <a:rPr lang="ko-KR" altLang="en-US" dirty="0" err="1"/>
              <a:t>온보딩</a:t>
            </a:r>
            <a:r>
              <a:rPr lang="ko-KR" altLang="en-US" dirty="0"/>
              <a:t> 가이드</a:t>
            </a:r>
            <a:r>
              <a:rPr lang="en-US" altLang="ko-KR" dirty="0"/>
              <a:t>, KPI </a:t>
            </a:r>
            <a:r>
              <a:rPr lang="ko-KR" altLang="en-US" dirty="0" err="1"/>
              <a:t>트래커</a:t>
            </a:r>
            <a:r>
              <a:rPr lang="en-US" altLang="ko-KR" dirty="0"/>
              <a:t>, </a:t>
            </a:r>
            <a:r>
              <a:rPr lang="ko-KR" altLang="en-US" dirty="0"/>
              <a:t>버그 응대 체계</a:t>
            </a:r>
            <a:r>
              <a:rPr lang="en-US" altLang="ko-KR" dirty="0"/>
              <a:t>, FGI </a:t>
            </a:r>
            <a:r>
              <a:rPr lang="ko-KR" altLang="en-US" dirty="0"/>
              <a:t>후속 설문 마무리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lang="en-US" altLang="ko-KR" dirty="0"/>
              <a:t>5/14: 3</a:t>
            </a:r>
            <a:r>
              <a:rPr lang="ko-KR" altLang="en-US" dirty="0"/>
              <a:t>차 스토리라인 </a:t>
            </a:r>
            <a:r>
              <a:rPr lang="en-US" altLang="ko-KR" dirty="0"/>
              <a:t>5</a:t>
            </a:r>
            <a:r>
              <a:rPr lang="ko-KR" altLang="en-US" dirty="0"/>
              <a:t>개 완성</a:t>
            </a:r>
            <a:r>
              <a:rPr lang="en-US" altLang="ko-KR" dirty="0"/>
              <a:t>, </a:t>
            </a:r>
            <a:r>
              <a:rPr lang="ko-KR" altLang="en-US" dirty="0"/>
              <a:t>전체 리허설과 </a:t>
            </a:r>
            <a:r>
              <a:rPr lang="en-US" altLang="ko-KR" dirty="0"/>
              <a:t>Go/No-Go </a:t>
            </a:r>
            <a:r>
              <a:rPr lang="ko-KR" altLang="en-US" dirty="0"/>
              <a:t>판단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lang="en-US" altLang="ko-KR" dirty="0"/>
              <a:t>5/15 or</a:t>
            </a:r>
            <a:r>
              <a:rPr lang="ko-KR" altLang="en-US" dirty="0"/>
              <a:t> </a:t>
            </a:r>
            <a:r>
              <a:rPr lang="en-US" altLang="ko-KR" dirty="0"/>
              <a:t>5/22: </a:t>
            </a:r>
            <a:r>
              <a:rPr lang="ko-KR" altLang="en-US" dirty="0"/>
              <a:t>권장 알파 런칭일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91C60-087E-82C3-B3EC-9B8EBF6942E8}"/>
              </a:ext>
            </a:extLst>
          </p:cNvPr>
          <p:cNvSpPr txBox="1"/>
          <p:nvPr/>
        </p:nvSpPr>
        <p:spPr>
          <a:xfrm>
            <a:off x="5071575" y="5116180"/>
            <a:ext cx="2970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캐릭터</a:t>
            </a:r>
            <a:r>
              <a:rPr lang="en-US" altLang="ko-KR" dirty="0"/>
              <a:t>(LP)</a:t>
            </a:r>
          </a:p>
          <a:p>
            <a:r>
              <a:rPr lang="ko-KR" altLang="en-US" dirty="0"/>
              <a:t>비주얼 </a:t>
            </a:r>
            <a:r>
              <a:rPr lang="en-US" altLang="ko-KR" dirty="0"/>
              <a:t>- </a:t>
            </a:r>
            <a:r>
              <a:rPr lang="ko-KR" altLang="en-US" dirty="0"/>
              <a:t>이미지세트</a:t>
            </a:r>
            <a:endParaRPr lang="en-US" altLang="ko-KR" dirty="0"/>
          </a:p>
          <a:p>
            <a:r>
              <a:rPr lang="ko-KR" altLang="en-US" dirty="0"/>
              <a:t>스토리라인</a:t>
            </a:r>
            <a:endParaRPr lang="en-US" altLang="ko-KR" dirty="0"/>
          </a:p>
          <a:p>
            <a:r>
              <a:rPr lang="en-US" altLang="ko-KR" dirty="0"/>
              <a:t>TTS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알파 4주 운영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운영 기간에는 주차별 체크업, 커뮤니티 정책, 버그/피드백 운영, FGI 일정이 함께 돌아가야 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Week 1 (5/22-5/28): 런칭 직후 일일 체크업, 버그 접수/응대 안정화, 1차 FGI 대상 확정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Week 2 (5/29-6/04): D7 초기 지표 리뷰, 알려진 이슈 보드 운영, 1차/2차 FGI 진행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Week 3 (6/05-6/11): 리텐션/커뮤니티 분위기 중간 리뷰, 버그/피드백 triage 재정렬, 운영 정책 업데이트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Week 4 (6/12-6/19): 종료 커뮤니케이션 준비, 보강 인터뷰, 최종 KPI/FGI 종합, 종료 공지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D+1, W1 중간, W2 중간, W3 중간, W4 종료 직전이 핵심 체크 포인트다.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운영 중 꼭 챙길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커뮤니티, 버그, 피드백, FGI는 일정과 함께 정책도 미리 준비돼 있어야 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743200" cy="4480560"/>
          </a:xfrm>
          <a:prstGeom prst="roundRect">
            <a:avLst/>
          </a:prstGeom>
          <a:solidFill>
            <a:srgbClr val="3760B2"/>
          </a:solidFill>
          <a:ln>
            <a:solidFill>
              <a:srgbClr val="376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커뮤니티 운영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첫 4주 콘텐츠 정책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주간 공지 / 개발 로그 / 기대치 관리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알파 종료 커뮤니케이션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371600"/>
            <a:ext cx="2743200" cy="448056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버그 / 피드백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접수 채널 단일화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심각도, 상태, 공지 방식 표준화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피드백 triage 재정렬 주간 운영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2468880" cy="448056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FGI / 리서치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1차/2차 FGI 일정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대상군 관리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인용문 정리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1371600"/>
            <a:ext cx="2286000" cy="4480560"/>
          </a:xfrm>
          <a:prstGeom prst="roundRect">
            <a:avLst/>
          </a:prstGeom>
          <a:solidFill>
            <a:srgbClr val="BF3C31"/>
          </a:solidFill>
          <a:ln>
            <a:solidFill>
              <a:srgbClr val="BF3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체크업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D+1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W1 중간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W2 중간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W3 중간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W4 최종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상위 체크리스트 스냅샷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준비 단계와 운영 단계를 하나의 관리표로 합쳤다.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2471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735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영역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중요도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담당팀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기한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체크 시점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의사결정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알파 목적과 성공 정의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Alpha Test PO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2026-04-23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4/23 킥오프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의사결정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5월 1일 채널 오픈 / 캠페인 시작 기준 일정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Alpha Test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4/23 킥오프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핵심 LP 3개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LP별 감정 훅과 차별 포인트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스토리 15개 목록과 구조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1차 스토리라인 5개 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5/01 채널/캠페인 오픈 직전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2차 스토리라인 5개 추가 완성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2026-05-07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W1 리뷰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3차 스토리라인 5개 추가 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2026-05-14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런칭 직전 Go/No-Go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 3개 세계관 요약본 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 3개 채팅용 이미지 최소 세트 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2026-05-01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5/01 채널/캠페인 오픈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 3개 보이스 샘플 최소 세트 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2026-05-07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W1 리뷰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일자별 커뮤니티 공개용 스포일러 안전 문구 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5/01 채널/캠페인 오픈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마케팅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알파 핵심 캠페인 메시지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Growth Marketing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2026-04-25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4/25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마케팅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바이럴 가능 자산 3종 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Growth Marketing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5/01 채널/캠페인 오픈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마케팅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랜딩 및 사전등록 E2E 검증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LUCIVE Product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36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마케팅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설문 응답 저장과 스크리닝 동선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Alpha Test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Go / No-Go 디시전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제품, 퍼널, 커뮤니티, 측정, 운영 중 하나라도 Blocker가 비면 런칭하면 안 된다.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264882"/>
              </p:ext>
            </p:extLst>
          </p:nvPr>
        </p:nvGraphicFramePr>
        <p:xfrm>
          <a:off x="411480" y="1325880"/>
          <a:ext cx="109728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7645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디시전 포인트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Go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No-Go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사유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 dirty="0" err="1"/>
                        <a:t>제품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최소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사용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가능</a:t>
                      </a:r>
                      <a:endParaRPr sz="1000" dirty="0"/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LP 3개 플레이 가능, 진행 불가 버그 없음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LP 하나 이상 unusable 또는 치명 버그 지속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제품 자체가 안 돌면 알파의 의미가 없음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복귀를 만들 콘텐츠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 dirty="0" err="1"/>
                        <a:t>플레이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가능한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스토리</a:t>
                      </a:r>
                      <a:r>
                        <a:rPr sz="1000" dirty="0"/>
                        <a:t> 10개 </a:t>
                      </a:r>
                      <a:r>
                        <a:rPr sz="1000" dirty="0" err="1"/>
                        <a:t>이상</a:t>
                      </a:r>
                      <a:r>
                        <a:rPr sz="1000" dirty="0"/>
                        <a:t>, 15개 </a:t>
                      </a:r>
                      <a:r>
                        <a:rPr sz="1000" dirty="0" err="1"/>
                        <a:t>구조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확정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복귀 이유가 너무 얕아 가설 검증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이번 알파는 서사 견인력 검증이 핵심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캠페인 전 채널 오픈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KR/JP/US 공식 채널 오픈 + 첫 주 게시물 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 dirty="0" err="1"/>
                        <a:t>유료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유입이</a:t>
                      </a:r>
                      <a:r>
                        <a:rPr sz="1000" dirty="0"/>
                        <a:t> 빈 </a:t>
                      </a:r>
                      <a:r>
                        <a:rPr sz="1000" dirty="0" err="1"/>
                        <a:t>채널로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떨어짐</a:t>
                      </a:r>
                      <a:endParaRPr sz="1000" dirty="0"/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기대감은 캠페인 전에 쌓아야 함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모집 퍼널 정상 동작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랜딩 -&gt; 등록 -&gt; 설문 -&gt; 로스터 저장이 한 바퀴 돈다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 dirty="0" err="1"/>
                        <a:t>중간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어디선가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끊기거나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데이터가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유실됨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 dirty="0" err="1"/>
                        <a:t>모집은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되는데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선발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운영이</a:t>
                      </a:r>
                      <a:r>
                        <a:rPr sz="1000" dirty="0"/>
                        <a:t> 안 </a:t>
                      </a:r>
                      <a:r>
                        <a:rPr sz="1000" dirty="0" err="1"/>
                        <a:t>되는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상황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방지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핵심 KPI 측정 가능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D7, 같은 LP 재방문, 온보딩, 세션 길이 측정 가능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런칭 후에도 핵심 지표를 못 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 dirty="0" err="1"/>
                        <a:t>검증형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알파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목적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상실</a:t>
                      </a:r>
                      <a:endParaRPr sz="1000" dirty="0"/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6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첫 72시간 + 4주 운영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일일 체크업, 버그/피드백 정책, FGI 일정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/>
                        <a:t>첫 주말 오너 없음, 운영 정책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rPr sz="1000" dirty="0" err="1"/>
                        <a:t>초기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신뢰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붕괴와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중간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판단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실패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방지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이번 주 바로 볼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준비 단계 마감과 운영 단계 설계를 동시에 당겨서 봐야 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20440" cy="4389120"/>
          </a:xfrm>
          <a:prstGeom prst="roundRect">
            <a:avLst/>
          </a:prstGeom>
          <a:solidFill>
            <a:srgbClr val="182340"/>
          </a:solidFill>
          <a:ln>
            <a:solidFill>
              <a:srgbClr val="18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4/28까지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LP 3개 확정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랜딩/사전등록/설문 QA 완료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세계관 요약과 스토리 15개 구조 확정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520440" cy="438912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5/1까지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1차 스토리라인 5개 완성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KR/JP/US 공식 채널 오픈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5/1~5/7 커뮤니티 콘텐츠 로드맵 게시 가능 상태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520440" cy="438912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런칭 전까지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2차/3차 스토리라인 완성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버그/피드백 운영 정책 확정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4주 운영 체크업 / FGI 일정표 준비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1347</Words>
  <Application>Microsoft Office PowerPoint</Application>
  <PresentationFormat>와이드스크린</PresentationFormat>
  <Paragraphs>262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WONSEOK WOO</cp:lastModifiedBy>
  <cp:revision>2</cp:revision>
  <dcterms:created xsi:type="dcterms:W3CDTF">2013-01-27T09:14:16Z</dcterms:created>
  <dcterms:modified xsi:type="dcterms:W3CDTF">2026-04-24T04:58:42Z</dcterms:modified>
  <cp:category/>
</cp:coreProperties>
</file>